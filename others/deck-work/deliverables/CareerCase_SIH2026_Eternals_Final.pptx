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32eea78a6749b2" /><Relationship Type="http://schemas.openxmlformats.org/officeDocument/2006/relationships/extended-properties" Target="/docProps/app.xml" Id="Re1deba5b2e5f4dbf" /><Relationship Type="http://schemas.openxmlformats.org/officeDocument/2006/relationships/officeDocument" Target="/ppt/presentation.xml" Id="Rc04e42e94efd47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9087d6aaa84807"/>
  </p:sldMasterIdLst>
  <p:notesMasterIdLst>
    <p:notesMasterId xmlns:r="http://schemas.openxmlformats.org/officeDocument/2006/relationships" r:id="R6b8ed9e0a4bb4ae4"/>
  </p:notesMasterIdLst>
  <p:sldIdLst>
    <p:sldId xmlns:r="http://schemas.openxmlformats.org/officeDocument/2006/relationships" id="256" r:id="R43aa46455554452c"/>
    <p:sldId xmlns:r="http://schemas.openxmlformats.org/officeDocument/2006/relationships" id="257" r:id="R86c2af1d1f8c4a10"/>
    <p:sldId xmlns:r="http://schemas.openxmlformats.org/officeDocument/2006/relationships" id="258" r:id="R34c8fc47e36f4432"/>
    <p:sldId xmlns:r="http://schemas.openxmlformats.org/officeDocument/2006/relationships" id="259" r:id="Re140aa7d8f804842"/>
    <p:sldId xmlns:r="http://schemas.openxmlformats.org/officeDocument/2006/relationships" id="260" r:id="Rc539aaff14954242"/>
    <p:sldId xmlns:r="http://schemas.openxmlformats.org/officeDocument/2006/relationships" id="261" r:id="R235194fd874046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a2e127804d47b6" /><Relationship Type="http://schemas.openxmlformats.org/officeDocument/2006/relationships/slideMaster" Target="/ppt/slideMasters/slideMaster1.xml" Id="R339087d6aaa84807" /><Relationship Type="http://schemas.openxmlformats.org/officeDocument/2006/relationships/notesMaster" Target="/ppt/notesMasters/notesMaster1.xml" Id="R6b8ed9e0a4bb4ae4" /><Relationship Type="http://schemas.openxmlformats.org/officeDocument/2006/relationships/presProps" Target="/ppt/presProps.xml" Id="R9ecebc1e928f46ee" /><Relationship Type="http://schemas.openxmlformats.org/officeDocument/2006/relationships/tableStyles" Target="/ppt/tableStyles.xml" Id="R6abfa928abbd4814" /><Relationship Type="http://schemas.openxmlformats.org/officeDocument/2006/relationships/slide" Target="/ppt/slides/slide1.xml" Id="R43aa46455554452c" /><Relationship Type="http://schemas.openxmlformats.org/officeDocument/2006/relationships/slide" Target="/ppt/slides/slide2.xml" Id="R86c2af1d1f8c4a10" /><Relationship Type="http://schemas.openxmlformats.org/officeDocument/2006/relationships/slide" Target="/ppt/slides/slide3.xml" Id="R34c8fc47e36f4432" /><Relationship Type="http://schemas.openxmlformats.org/officeDocument/2006/relationships/slide" Target="/ppt/slides/slide4.xml" Id="Re140aa7d8f804842" /><Relationship Type="http://schemas.openxmlformats.org/officeDocument/2006/relationships/slide" Target="/ppt/slides/slide5.xml" Id="Rc539aaff14954242" /><Relationship Type="http://schemas.openxmlformats.org/officeDocument/2006/relationships/slide" Target="/ppt/slides/slide6.xml" Id="R235194fd874046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544d9c349949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dce2d54f57445f" /><Relationship Type="http://schemas.openxmlformats.org/officeDocument/2006/relationships/notesMaster" Target="/ppt/notesMasters/notesMaster1.xml" Id="Radfa45c034864b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cee5eb55d34be7" /><Relationship Type="http://schemas.openxmlformats.org/officeDocument/2006/relationships/notesMaster" Target="/ppt/notesMasters/notesMaster1.xml" Id="R06a96032a99d41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a36b992f364e9c" /><Relationship Type="http://schemas.openxmlformats.org/officeDocument/2006/relationships/notesMaster" Target="/ppt/notesMasters/notesMaster1.xml" Id="R89128363358543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5a4244f2b540e9" /><Relationship Type="http://schemas.openxmlformats.org/officeDocument/2006/relationships/notesMaster" Target="/ppt/notesMasters/notesMaster1.xml" Id="R7993411202144b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2396a442f0431d" /><Relationship Type="http://schemas.openxmlformats.org/officeDocument/2006/relationships/notesMaster" Target="/ppt/notesMasters/notesMaster1.xml" Id="Rd62d512add7845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ebe411eb6a49cc" /><Relationship Type="http://schemas.openxmlformats.org/officeDocument/2006/relationships/notesMaster" Target="/ppt/notesMasters/notesMaster1.xml" Id="R43e0262a57aa4c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Official SIH 2026 Problem Statement: SIH260480 — AI-Enhanced Career Guidance System for Personalized Career Pathways.</a:t>
            </a:r>
          </a:p>
          <a:p xmlns:a="http://schemas.openxmlformats.org/drawingml/2006/main">
            <a:r>
              <a:t>SIH2026 IDEA Presentation Format (slides 1–6).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The Problem Statement.md — scope requirements: aptitude, aspirations, abilities/experience, progression and skill gaps.</a:t>
            </a:r>
          </a:p>
          <a:p xmlns:a="http://schemas.openxmlformats.org/drawingml/2006/main">
            <a:r>
              <a:t>PROJECT_BRIEF.md — CareerCase user journey and deterministic/AI boundary.</a:t>
            </a:r>
          </a:p>
          <a:p xmlns:a="http://schemas.openxmlformats.org/drawingml/2006/main">
            <a:r>
              <a:t>Designing a Six-Slide Smart India Hackathon Presentation… — consistent journey vocabulary.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PROJECT_BRIEF.md — architecture, 11-factor matching, AI boundary, technology stack and route engine.</a:t>
            </a:r>
          </a:p>
          <a:p xmlns:a="http://schemas.openxmlformats.org/drawingml/2006/main">
            <a:r>
              <a:t>CareerCase source audit — deterministic engine, evidence provenance and applied AI surfaces.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PROJECT_BRIEF.md — product constraints and non-overclaim boundaries.</a:t>
            </a:r>
          </a:p>
          <a:p xmlns:a="http://schemas.openxmlformats.org/drawingml/2006/main">
            <a:r>
              <a:t>CareerCase source audit — consent, local continuity, multilingual scope, assessment and knowledge-base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The Problem Statement.md — target range from students to mid-career professionals, scalability/adaptability and expected outcomes.</a:t>
            </a:r>
          </a:p>
          <a:p xmlns:a="http://schemas.openxmlformats.org/drawingml/2006/main">
            <a:r>
              <a:t>PROJECT_BRIEF.md — five learner segments, three core routes and multilingual core guidance.</a:t>
            </a:r>
          </a:p>
          <a:p xmlns:a="http://schemas.openxmlformats.org/drawingml/2006/main">
            <a:r>
              <a:t>Deep Research Report… — label pilot KPIs as validation plan, not achieved impact.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Official SIH 2026 Problem Statement: SIH260480.</a:t>
            </a:r>
          </a:p>
          <a:p xmlns:a="http://schemas.openxmlformats.org/drawingml/2006/main">
            <a:r>
              <a:t>National Classification of Occupations (NCO-2015): https://www.ncs.gov.in/Documents/National%20Classification%20of%20Occupations%20_Vol%20I-%202015.pdf</a:t>
            </a:r>
          </a:p>
          <a:p xmlns:a="http://schemas.openxmlformats.org/drawingml/2006/main">
            <a:r>
              <a:t>National Qualifications Register: https://www.nqr.gov.in</a:t>
            </a:r>
          </a:p>
          <a:p xmlns:a="http://schemas.openxmlformats.org/drawingml/2006/main">
            <a:r>
              <a:t>CareerCase PROJECT_BRIEF.md and implementation audit — knowledge-base counts and prototype status.</a:t>
            </a:r>
          </a:p>
          <a:p xmlns:a="http://schemas.openxmlformats.org/drawingml/2006/main">
            <a:r>
              <a:t>Repository: https://github.com/KamalReddy2901/AI-Enhanced-Career-Guidance-System-for-Personalized-Career-Pathways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90fe69c38b4d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3f65a2c5234dae" /><Relationship Type="http://schemas.openxmlformats.org/officeDocument/2006/relationships/slideLayout" Target="/ppt/slideLayouts/slideLayout1.xml" Id="R486ccbaaa18c4d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6ccbaaa18c4d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7ae478e4845f9" /><Relationship Type="http://schemas.openxmlformats.org/officeDocument/2006/relationships/image" Target="/ppt/media/image.png" Id="R35a8b300502141ee" /><Relationship Type="http://schemas.openxmlformats.org/officeDocument/2006/relationships/notesSlide" Target="/ppt/notesSlides/notesSlide1.xml" Id="Rc03d301806c749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6a2dbf12ab4cf1" /><Relationship Type="http://schemas.openxmlformats.org/officeDocument/2006/relationships/notesSlide" Target="/ppt/notesSlides/notesSlide2.xml" Id="R009c60bf426e48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cf6e0d5c79403c" /><Relationship Type="http://schemas.openxmlformats.org/officeDocument/2006/relationships/notesSlide" Target="/ppt/notesSlides/notesSlide3.xml" Id="Rff52578cab434a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2a40ec16694f7f" /><Relationship Type="http://schemas.openxmlformats.org/officeDocument/2006/relationships/image" Target="/ppt/media/image2.png" Id="R6d008b7eaa014153" /><Relationship Type="http://schemas.openxmlformats.org/officeDocument/2006/relationships/notesSlide" Target="/ppt/notesSlides/notesSlide4.xml" Id="R43d63e11e06242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d9c54886f649dd" /><Relationship Type="http://schemas.openxmlformats.org/officeDocument/2006/relationships/notesSlide" Target="/ppt/notesSlides/notesSlide5.xml" Id="Rba3c522591e14a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5352cbda5047b7" /><Relationship Type="http://schemas.openxmlformats.org/officeDocument/2006/relationships/image" Target="/ppt/media/image.jpeg" Id="R3c7ad4a370d14a79" /><Relationship Type="http://schemas.openxmlformats.org/officeDocument/2006/relationships/notesSlide" Target="/ppt/notesSlides/notesSlide6.xml" Id="R3f3bd8fe9a054e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9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a8b300502141e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20ED69-C5B1-436C-99B9-3761918C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00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8F6"/>
          </a:solidFill>
          <a:ln xmlns:a="http://schemas.openxmlformats.org/drawingml/2006/main" w="9525">
            <a:solidFill>
              <a:srgbClr val="F9F8F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C4196E-89F8-46C4-9838-48360B52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007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1283D5-66E4-4643-9F51-D30DCD4F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742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977167-1762-4C36-816C-F88E6C54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63946"/>
                </a:solidFill>
              </a:defRPr>
            </a:pPr>
            <a:r>
              <a:rPr sz="900" b="1">
                <a:solidFill>
                  <a:srgbClr val="E63946"/>
                </a:solidFill>
              </a:rPr>
              <a:t>SMART INDIA HACKATHON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735E78-4AD8-4B10-B26B-892B0295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0A0A0A"/>
                </a:solidFill>
              </a:defRPr>
            </a:pPr>
            <a:r>
              <a:rPr sz="4800" b="1">
                <a:solidFill>
                  <a:srgbClr val="0A0A0A"/>
                </a:solidFill>
              </a:rPr>
              <a:t>CareerCase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C52A4A-6063-4241-8276-60BEFE62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A0A0A"/>
                </a:solidFill>
              </a:defRPr>
            </a:pPr>
            <a:r>
              <a:rPr sz="3225" b="1">
                <a:solidFill>
                  <a:srgbClr val="0A0A0A"/>
                </a:solidFill>
              </a:rPr>
              <a:t>A career decision</a:t>
            </a:r>
          </a:p>
          <a:p xmlns:a="http://schemas.openxmlformats.org/drawingml/2006/main">
            <a:pPr>
              <a:defRPr sz="3225" b="1">
                <a:solidFill>
                  <a:srgbClr val="0A0A0A"/>
                </a:solidFill>
              </a:defRPr>
            </a:pPr>
            <a:r>
              <a:rPr sz="3225" b="1">
                <a:solidFill>
                  <a:srgbClr val="0A0A0A"/>
                </a:solidFill>
              </a:rPr>
              <a:t>should show its 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C03D97-AFE2-40F0-AB55-EC85F39C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33725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9525">
            <a:solidFill>
              <a:srgbClr val="E6394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06B7DE-1187-4EFA-9AEA-1F867DD9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81375"/>
            <a:ext cx="4667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A0A0A"/>
                </a:solidFill>
              </a:defRPr>
            </a:pPr>
            <a:r>
              <a:rPr sz="1500">
                <a:solidFill>
                  <a:srgbClr val="0A0A0A"/>
                </a:solidFill>
              </a:rPr>
              <a:t>Turn aptitude, aspirations, abilities and experience into an explainable career pathway.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6BDB68-AD27-4EC3-8BDC-64CF4908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24350"/>
            <a:ext cx="11620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63946"/>
          </a:solidFill>
          <a:ln xmlns:a="http://schemas.openxmlformats.org/drawingml/2006/main" w="9525">
            <a:solidFill>
              <a:srgbClr val="E6394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C2B99D-CBDD-42C4-BE3C-893F63AB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71975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SIH260480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7842A0-C54A-4142-80B7-132303B3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24350"/>
            <a:ext cx="16192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FF32C9-4959-4D54-850D-EFEAC4E8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3719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SMART EDUCATION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38A0A4-1779-4033-8034-30A8BAFA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324350"/>
            <a:ext cx="10477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6ACF90-01CD-4DD5-BB54-FFD252CF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371975"/>
            <a:ext cx="857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A0A0A"/>
                </a:solidFill>
              </a:defRPr>
            </a:pPr>
            <a:r>
              <a:rPr sz="675" b="1">
                <a:solidFill>
                  <a:srgbClr val="0A0A0A"/>
                </a:solidFill>
              </a:rPr>
              <a:t>SOFTWARE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1109A0-442B-4EA3-9B29-C4CFB69E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33950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639744-7F3C-459D-932A-3B3B8C55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958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6B67"/>
                </a:solidFill>
              </a:defRPr>
            </a:pPr>
            <a:r>
              <a:rPr sz="750" b="1">
                <a:solidFill>
                  <a:srgbClr val="6B6B67"/>
                </a:solidFill>
              </a:rPr>
              <a:t>Problem Statement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C4E292-DEE7-4C07-A618-AAE8D0BC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8637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A0A0A"/>
                </a:solidFill>
              </a:defRPr>
            </a:pPr>
            <a:r>
              <a:rPr sz="1425" b="1">
                <a:solidFill>
                  <a:srgbClr val="0A0A0A"/>
                </a:solidFill>
              </a:rPr>
              <a:t>AI-Enhanced Career Guidance System for Personalized Career Pathways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AE7EF0-BD43-400F-806D-2A92CCF9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A0A0A"/>
                </a:solidFill>
              </a:defRPr>
            </a:pPr>
            <a:r>
              <a:rPr sz="750" b="1">
                <a:solidFill>
                  <a:srgbClr val="0A0A0A"/>
                </a:solidFill>
              </a:rPr>
              <a:t>TEAM ETERNALS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B5726E-A23B-4B31-A412-966FD917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076950"/>
            <a:ext cx="2190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6B67"/>
                </a:solidFill>
              </a:defRPr>
            </a:pPr>
            <a:r>
              <a:rPr sz="750" b="1">
                <a:solidFill>
                  <a:srgbClr val="6B6B67"/>
                </a:solidFill>
              </a:rPr>
              <a:t>TEAM ID — NOT ALLOTTED</a:t>
            </a:r>
          </a:p>
        </p:txBody>
      </p:sp>
    </p:spTree>
    <p:extLst>
      <p:ext uri="{BB962C8B-B14F-4D97-AF65-F5344CB8AC3E}">
        <p14:creationId xmlns:p14="http://schemas.microsoft.com/office/powerpoint/2010/main" val="11764091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9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7B92213-AFB9-4068-9F78-FABF5CBA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63946"/>
                </a:solidFill>
              </a:defRPr>
            </a:pPr>
            <a:r>
              <a:rPr sz="900" b="1">
                <a:solidFill>
                  <a:srgbClr val="E63946"/>
                </a:solidFill>
              </a:rPr>
              <a:t>02 / PROPOSED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1669D-AA7F-4DEB-B0A6-FCA582A8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A0A0A"/>
                </a:solidFill>
              </a:defRPr>
            </a:pPr>
            <a:r>
              <a:rPr sz="2700" b="1">
                <a:solidFill>
                  <a:srgbClr val="0A0A0A"/>
                </a:solidFill>
              </a:rPr>
              <a:t>One profile becomes a career decision you can defend.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636A87-A355-48E9-AEC3-2F80CA94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A0F599-A9AE-488D-BC90-3921EF9B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B6B67"/>
                </a:solidFill>
              </a:defRPr>
            </a:pPr>
            <a:r>
              <a:rPr sz="675" b="1">
                <a:solidFill>
                  <a:srgbClr val="6B6B67"/>
                </a:solidFill>
              </a:rPr>
              <a:t>SMART INDIA HACKATHON 2026  /  ETERNALS  / 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18E70A-4180-4027-9E16-F2267784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38900"/>
            <a:ext cx="1276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A0A0A"/>
                </a:solidFill>
              </a:defRPr>
            </a:pPr>
            <a:r>
              <a:rPr sz="750" b="1">
                <a:solidFill>
                  <a:srgbClr val="0A0A0A"/>
                </a:solidFill>
              </a:rPr>
              <a:t>CAREERCASE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B912FA-A017-4C1C-95E3-2FD1219A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B6B67"/>
                </a:solidFill>
              </a:defRPr>
            </a:pPr>
            <a:r>
              <a:rPr sz="1350">
                <a:solidFill>
                  <a:srgbClr val="6B6B67"/>
                </a:solidFill>
              </a:rPr>
              <a:t>Generic guidance overlooks the whole person. CareerCase turns four signals into a living, explainable case file.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3BF7CA-ADB2-48C4-9DEC-4C380192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14550"/>
            <a:ext cx="19431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7572E9-13E3-4D58-B1F6-0D42E945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276225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63946"/>
          </a:solidFill>
          <a:ln xmlns:a="http://schemas.openxmlformats.org/drawingml/2006/main" w="9525">
            <a:solidFill>
              <a:srgbClr val="E6394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EFF2F5-DCC9-4404-94E7-10EEDD44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95525"/>
            <a:ext cx="276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FE246F-1D0C-4A8F-BC79-8E800F0B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A0A0A"/>
                </a:solidFill>
              </a:defRPr>
            </a:pPr>
            <a:r>
              <a:rPr sz="1650" b="1">
                <a:solidFill>
                  <a:srgbClr val="0A0A0A"/>
                </a:solidFill>
              </a:rPr>
              <a:t>Discover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06BDE1-5F39-4068-A72C-9F0B021E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6B67"/>
                </a:solidFill>
              </a:defRPr>
            </a:pPr>
            <a:r>
              <a:rPr sz="1050">
                <a:solidFill>
                  <a:srgbClr val="6B6B67"/>
                </a:solidFill>
              </a:rPr>
              <a:t>Aptitude, interests</a:t>
            </a:r>
          </a:p>
          <a:p xmlns:a="http://schemas.openxmlformats.org/drawingml/2006/main">
            <a:pPr>
              <a:defRPr sz="1050">
                <a:solidFill>
                  <a:srgbClr val="6B6B67"/>
                </a:solidFill>
              </a:defRPr>
            </a:pPr>
            <a:r>
              <a:rPr sz="1050">
                <a:solidFill>
                  <a:srgbClr val="6B6B67"/>
                </a:solidFill>
              </a:rPr>
              <a:t>&amp; values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52D41B-F3DD-433F-9B4F-9F57FFED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24150"/>
            <a:ext cx="1809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CC02E6-4050-4D38-B38A-039198F7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676525"/>
            <a:ext cx="76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9525">
            <a:solidFill>
              <a:srgbClr val="E6394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58EF5C-06CA-407A-ADCE-51AA02D9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114550"/>
            <a:ext cx="19431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B6CDBF-B689-42B6-AA75-FA6C2079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247900"/>
            <a:ext cx="276225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63946"/>
          </a:solidFill>
          <a:ln xmlns:a="http://schemas.openxmlformats.org/drawingml/2006/main" w="9525">
            <a:solidFill>
              <a:srgbClr val="E6394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519E81-B249-452A-B28E-BF925A64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295525"/>
            <a:ext cx="276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B65854-0618-42A9-B806-AAFE218F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2479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A0A0A"/>
                </a:solidFill>
              </a:defRPr>
            </a:pPr>
            <a:r>
              <a:rPr sz="1650" b="1">
                <a:solidFill>
                  <a:srgbClr val="0A0A0A"/>
                </a:solidFill>
              </a:rPr>
              <a:t>Build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07D65C-F17C-4ABB-8A29-7F6A4F91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647950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6B67"/>
                </a:solidFill>
              </a:defRPr>
            </a:pPr>
            <a:r>
              <a:rPr sz="1050">
                <a:solidFill>
                  <a:srgbClr val="6B6B67"/>
                </a:solidFill>
              </a:rPr>
              <a:t>Skills, experience</a:t>
            </a:r>
          </a:p>
          <a:p xmlns:a="http://schemas.openxmlformats.org/drawingml/2006/main">
            <a:pPr>
              <a:defRPr sz="1050">
                <a:solidFill>
                  <a:srgbClr val="6B6B67"/>
                </a:solidFill>
              </a:defRPr>
            </a:pPr>
            <a:r>
              <a:rPr sz="1050">
                <a:solidFill>
                  <a:srgbClr val="6B6B67"/>
                </a:solidFill>
              </a:rPr>
              <a:t>&amp; aspirations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DC7B55-CA93-4E84-92ED-D80B92C7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24150"/>
            <a:ext cx="1809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82E203-32AF-40A5-B423-A1040C0F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676525"/>
            <a:ext cx="76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9525">
            <a:solidFill>
              <a:srgbClr val="E6394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89AE7A-FD81-4407-A3BF-D62E36FC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14550"/>
            <a:ext cx="19431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271750-A084-4DFA-B318-1009CCDE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247900"/>
            <a:ext cx="276225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63946"/>
          </a:solidFill>
          <a:ln xmlns:a="http://schemas.openxmlformats.org/drawingml/2006/main" w="9525">
            <a:solidFill>
              <a:srgbClr val="E6394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790F42-72BB-4602-A472-04F1E2A8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295525"/>
            <a:ext cx="276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75CAD8-AC34-455B-B233-9E9A41F8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2479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A0A0A"/>
                </a:solidFill>
              </a:defRPr>
            </a:pPr>
            <a:r>
              <a:rPr sz="1650" b="1">
                <a:solidFill>
                  <a:srgbClr val="0A0A0A"/>
                </a:solidFill>
              </a:rPr>
              <a:t>Match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5CF7C6-02F5-4B56-A309-4FB2E161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647950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6B67"/>
                </a:solidFill>
              </a:defRPr>
            </a:pPr>
            <a:r>
              <a:rPr sz="1050">
                <a:solidFill>
                  <a:srgbClr val="6B6B67"/>
                </a:solidFill>
              </a:rPr>
              <a:t>13 diversified</a:t>
            </a:r>
          </a:p>
          <a:p xmlns:a="http://schemas.openxmlformats.org/drawingml/2006/main">
            <a:pPr>
              <a:defRPr sz="1050">
                <a:solidFill>
                  <a:srgbClr val="6B6B67"/>
                </a:solidFill>
              </a:defRPr>
            </a:pPr>
            <a:r>
              <a:rPr sz="1050">
                <a:solidFill>
                  <a:srgbClr val="6B6B67"/>
                </a:solidFill>
              </a:rPr>
              <a:t>career options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6C04CA-DF43-4A2D-BF04-27CA8198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24150"/>
            <a:ext cx="1809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896C08-09B9-4C26-8A5A-A7E4D3FD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676525"/>
            <a:ext cx="76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9525">
            <a:solidFill>
              <a:srgbClr val="E6394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39126C-D2A8-49CA-A54D-5D2EFD8E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114550"/>
            <a:ext cx="19431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8246A7-FBD5-4F2B-8250-DED8A34B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47900"/>
            <a:ext cx="276225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63946"/>
          </a:solidFill>
          <a:ln xmlns:a="http://schemas.openxmlformats.org/drawingml/2006/main" w="9525">
            <a:solidFill>
              <a:srgbClr val="E6394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3488D8-2075-4A82-807A-92F5A060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95525"/>
            <a:ext cx="276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F330F2-43A5-4525-9637-223E54FA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2479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A0A0A"/>
                </a:solidFill>
              </a:defRPr>
            </a:pPr>
            <a:r>
              <a:rPr sz="1650" b="1">
                <a:solidFill>
                  <a:srgbClr val="0A0A0A"/>
                </a:solidFill>
              </a:rPr>
              <a:t>Explain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97963A-1434-412C-AAB4-972B9866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47950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6B67"/>
                </a:solidFill>
              </a:defRPr>
            </a:pPr>
            <a:r>
              <a:rPr sz="1050">
                <a:solidFill>
                  <a:srgbClr val="6B6B67"/>
                </a:solidFill>
              </a:rPr>
              <a:t>Why this fits —</a:t>
            </a:r>
          </a:p>
          <a:p xmlns:a="http://schemas.openxmlformats.org/drawingml/2006/main">
            <a:pPr>
              <a:defRPr sz="1050">
                <a:solidFill>
                  <a:srgbClr val="6B6B67"/>
                </a:solidFill>
              </a:defRPr>
            </a:pPr>
            <a:r>
              <a:rPr sz="1050">
                <a:solidFill>
                  <a:srgbClr val="6B6B67"/>
                </a:solidFill>
              </a:rPr>
              <a:t>and what changes it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245597-9279-4053-BF43-827F7AED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24150"/>
            <a:ext cx="1809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99C189-E2F7-46A7-9584-03754EE3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676525"/>
            <a:ext cx="76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9525">
            <a:solidFill>
              <a:srgbClr val="E6394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D8C6F8-679B-4720-8060-A0A697EC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14550"/>
            <a:ext cx="19431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05539D-E30F-42FA-817C-9F6B5614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47900"/>
            <a:ext cx="276225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63946"/>
          </a:solidFill>
          <a:ln xmlns:a="http://schemas.openxmlformats.org/drawingml/2006/main" w="9525">
            <a:solidFill>
              <a:srgbClr val="E6394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FDFC84-9781-4CDF-B18C-3C907E06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95525"/>
            <a:ext cx="276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D36B60-1B27-4CC7-809A-CFD175F0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2479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A0A0A"/>
                </a:solidFill>
              </a:defRPr>
            </a:pPr>
            <a:r>
              <a:rPr sz="1650" b="1">
                <a:solidFill>
                  <a:srgbClr val="0A0A0A"/>
                </a:solidFill>
              </a:rPr>
              <a:t>Advance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64D42E-9566-47EB-82C8-C1233467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47950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6B67"/>
                </a:solidFill>
              </a:defRPr>
            </a:pPr>
            <a:r>
              <a:rPr sz="1050">
                <a:solidFill>
                  <a:srgbClr val="6B6B67"/>
                </a:solidFill>
              </a:rPr>
              <a:t>Close gaps; track</a:t>
            </a:r>
          </a:p>
          <a:p xmlns:a="http://schemas.openxmlformats.org/drawingml/2006/main">
            <a:pPr>
              <a:defRPr sz="1050">
                <a:solidFill>
                  <a:srgbClr val="6B6B67"/>
                </a:solidFill>
              </a:defRPr>
            </a:pPr>
            <a:r>
              <a:rPr sz="1050">
                <a:solidFill>
                  <a:srgbClr val="6B6B67"/>
                </a:solidFill>
              </a:rPr>
              <a:t>progression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99E39E7-486C-4D0B-818E-649A132E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228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E63946"/>
                </a:solidFill>
              </a:defRPr>
            </a:pPr>
            <a:r>
              <a:rPr sz="750" b="1">
                <a:solidFill>
                  <a:srgbClr val="E63946"/>
                </a:solidFill>
              </a:rPr>
              <a:t>THE CAREERCASE LOOP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E28B848-702E-4A95-924B-E12A03A8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433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4E71E86-F314-465A-A46C-CD3C81DD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5529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2D47F14-AD1D-4A27-9023-323104D6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67225"/>
            <a:ext cx="31908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A0A0A"/>
                </a:solidFill>
              </a:defRPr>
            </a:pPr>
            <a:r>
              <a:rPr sz="750" b="1">
                <a:solidFill>
                  <a:srgbClr val="0A0A0A"/>
                </a:solidFill>
              </a:rPr>
              <a:t>WHOLE-PERSON PROFILE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104E2B2-CDD7-4C78-A23B-F7046AA0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95825"/>
            <a:ext cx="319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B6B67"/>
                </a:solidFill>
              </a:defRPr>
            </a:pPr>
            <a:r>
              <a:rPr sz="1125">
                <a:solidFill>
                  <a:srgbClr val="6B6B67"/>
                </a:solidFill>
              </a:rPr>
              <a:t>Interests, aptitude, skills, experience and constraints in one case file.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B3B70F3-B03D-446F-9F20-C83DDC0A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5529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3946"/>
          </a:solidFill>
          <a:ln xmlns:a="http://schemas.openxmlformats.org/drawingml/2006/main" w="9525">
            <a:solidFill>
              <a:srgbClr val="E6394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79176C3-60A5-4F15-8D80-2B6ADEAD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67225"/>
            <a:ext cx="31908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A0A0A"/>
                </a:solidFill>
              </a:defRPr>
            </a:pPr>
            <a:r>
              <a:rPr sz="750" b="1">
                <a:solidFill>
                  <a:srgbClr val="0A0A0A"/>
                </a:solidFill>
              </a:rPr>
              <a:t>AI, NOT A BLACK BOX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5C94E2E-DB90-4547-BDC5-D2E5FF90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95825"/>
            <a:ext cx="319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B6B67"/>
                </a:solidFill>
              </a:defRPr>
            </a:pPr>
            <a:r>
              <a:rPr sz="1125">
                <a:solidFill>
                  <a:srgbClr val="6B6B67"/>
                </a:solidFill>
              </a:rPr>
              <a:t>AI extracts and explains evidence; the core career score remains deterministic.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8DC7D08-1D3D-4163-9201-5A307E63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5529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CB0F022-EECB-42EB-8FB3-CAC159F5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67225"/>
            <a:ext cx="31908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A0A0A"/>
                </a:solidFill>
              </a:defRPr>
            </a:pPr>
            <a:r>
              <a:rPr sz="750" b="1">
                <a:solidFill>
                  <a:srgbClr val="0A0A0A"/>
                </a:solidFill>
              </a:rPr>
              <a:t>MULTIPLE, ACTIONABLE ROUTES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E1D53BB-CBF0-421A-8BBC-08B4AB17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95825"/>
            <a:ext cx="319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B6B67"/>
                </a:solidFill>
              </a:defRPr>
            </a:pPr>
            <a:r>
              <a:rPr sz="1125">
                <a:solidFill>
                  <a:srgbClr val="6B6B67"/>
                </a:solidFill>
              </a:rPr>
              <a:t>Focused, lower-risk and credential-led paths—not a single opaque answer.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36E2A28-E319-4EE7-A1F4-3CB70DD4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43575"/>
            <a:ext cx="39052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10452E7-A52C-437B-8F40-0C6EA27C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91200"/>
            <a:ext cx="3714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DISCOVER → BUILD → MATCH → EXPLAIN → ADVANCE</a:t>
            </a:r>
          </a:p>
        </p:txBody>
      </p:sp>
    </p:spTree>
    <p:extLst>
      <p:ext uri="{BB962C8B-B14F-4D97-AF65-F5344CB8AC3E}">
        <p14:creationId xmlns:p14="http://schemas.microsoft.com/office/powerpoint/2010/main" val="13566104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9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8D4F787-6DB4-4A41-87B7-C04D072F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63946"/>
                </a:solidFill>
              </a:defRPr>
            </a:pPr>
            <a:r>
              <a:rPr sz="900" b="1">
                <a:solidFill>
                  <a:srgbClr val="E63946"/>
                </a:solidFill>
              </a:rPr>
              <a:t>03 / TECHNICAL APPROACH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4F3A2F-7709-42AE-AC73-A86AF258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A0A0A"/>
                </a:solidFill>
              </a:defRPr>
            </a:pPr>
            <a:r>
              <a:rPr sz="2700" b="1">
                <a:solidFill>
                  <a:srgbClr val="0A0A0A"/>
                </a:solidFill>
              </a:rPr>
              <a:t>The same journey runs through one traceable system.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333876-2AD9-4E8F-8F23-1347E8E0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D666FE-6910-4CFF-B1F6-0CD3A7A7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B6B67"/>
                </a:solidFill>
              </a:defRPr>
            </a:pPr>
            <a:r>
              <a:rPr sz="675" b="1">
                <a:solidFill>
                  <a:srgbClr val="6B6B67"/>
                </a:solidFill>
              </a:rPr>
              <a:t>SMART INDIA HACKATHON 2026  /  ETERNALS  / 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7EFF58-A236-430A-AB4F-E9D52040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38900"/>
            <a:ext cx="1276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A0A0A"/>
                </a:solidFill>
              </a:defRPr>
            </a:pPr>
            <a:r>
              <a:rPr sz="750" b="1">
                <a:solidFill>
                  <a:srgbClr val="0A0A0A"/>
                </a:solidFill>
              </a:rPr>
              <a:t>CAREERCASE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92214D-EE38-481C-AE61-24E962D3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B6B67"/>
                </a:solidFill>
              </a:defRPr>
            </a:pPr>
            <a:r>
              <a:rPr sz="1350">
                <a:solidFill>
                  <a:srgbClr val="6B6B67"/>
                </a:solidFill>
              </a:rPr>
              <a:t>Every recommendation has a visible input, a reproducible decision layer and a route the learner can act 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BCCC87-D1AB-48A8-97D0-44B0DA73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05025"/>
            <a:ext cx="1952625" cy="2000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D90BCE-7F80-4F43-88B0-57688EC8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05025"/>
            <a:ext cx="19526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530ABC-7560-4E18-8659-61DF0972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63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A0A0A"/>
                </a:solidFill>
              </a:defRPr>
            </a:pPr>
            <a:r>
              <a:rPr sz="750" b="1">
                <a:solidFill>
                  <a:srgbClr val="0A0A0A"/>
                </a:solidFill>
              </a:rPr>
              <a:t>U1 / CAPTURE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F816A2-9F40-435C-8961-D74604AD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619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B6B67"/>
                </a:solidFill>
              </a:defRPr>
            </a:pPr>
            <a:r>
              <a:rPr sz="1125" b="0">
                <a:solidFill>
                  <a:srgbClr val="6B6B67"/>
                </a:solidFill>
              </a:rPr>
              <a:t>Assessments</a:t>
            </a:r>
          </a:p>
          <a:p xmlns:a="http://schemas.openxmlformats.org/drawingml/2006/main">
            <a:pPr>
              <a:defRPr sz="1125" b="0">
                <a:solidFill>
                  <a:srgbClr val="6B6B67"/>
                </a:solidFill>
              </a:defRPr>
            </a:pPr>
            <a:r>
              <a:rPr sz="1125" b="0">
                <a:solidFill>
                  <a:srgbClr val="6B6B67"/>
                </a:solidFill>
              </a:rPr>
              <a:t>Aspirations</a:t>
            </a:r>
          </a:p>
          <a:p xmlns:a="http://schemas.openxmlformats.org/drawingml/2006/main">
            <a:pPr>
              <a:defRPr sz="1125" b="0">
                <a:solidFill>
                  <a:srgbClr val="6B6B67"/>
                </a:solidFill>
              </a:defRPr>
            </a:pPr>
            <a:r>
              <a:rPr sz="1125" b="0">
                <a:solidFill>
                  <a:srgbClr val="6B6B67"/>
                </a:solidFill>
              </a:rPr>
              <a:t>Skills + experience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A53786-C58C-4AF8-8180-F0D74855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07657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AAE8E1-225C-44A4-A35F-CF8EE67C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028950"/>
            <a:ext cx="76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9525">
            <a:solidFill>
              <a:srgbClr val="E6394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7E8FAB-8A89-46AA-9B64-874DFDF8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105025"/>
            <a:ext cx="1952625" cy="2000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C61823-5C3E-4835-9728-F4DC357E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105025"/>
            <a:ext cx="19526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D2"/>
          </a:solidFill>
          <a:ln xmlns:a="http://schemas.openxmlformats.org/drawingml/2006/main" w="9525">
            <a:solidFill>
              <a:srgbClr val="E8E0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F7E75D-F6C2-478B-B883-CD093B57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333625"/>
            <a:ext cx="163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A0A0A"/>
                </a:solidFill>
              </a:defRPr>
            </a:pPr>
            <a:r>
              <a:rPr sz="750" b="1">
                <a:solidFill>
                  <a:srgbClr val="0A0A0A"/>
                </a:solidFill>
              </a:rPr>
              <a:t>U2 / STRUCTURE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9A7805-4E9D-46E3-8A06-A1B8615E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667000"/>
            <a:ext cx="1619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B6B67"/>
                </a:solidFill>
              </a:defRPr>
            </a:pPr>
            <a:r>
              <a:rPr sz="1125" b="0">
                <a:solidFill>
                  <a:srgbClr val="6B6B67"/>
                </a:solidFill>
              </a:rPr>
              <a:t>Career Passport</a:t>
            </a:r>
          </a:p>
          <a:p xmlns:a="http://schemas.openxmlformats.org/drawingml/2006/main">
            <a:pPr>
              <a:defRPr sz="1125" b="0">
                <a:solidFill>
                  <a:srgbClr val="6B6B67"/>
                </a:solidFill>
              </a:defRPr>
            </a:pPr>
            <a:r>
              <a:rPr sz="1125" b="0">
                <a:solidFill>
                  <a:srgbClr val="6B6B67"/>
                </a:solidFill>
              </a:rPr>
              <a:t>Evidence provenance</a:t>
            </a:r>
          </a:p>
          <a:p xmlns:a="http://schemas.openxmlformats.org/drawingml/2006/main">
            <a:pPr>
              <a:defRPr sz="1125" b="0">
                <a:solidFill>
                  <a:srgbClr val="6B6B67"/>
                </a:solidFill>
              </a:defRPr>
            </a:pPr>
            <a:r>
              <a:rPr sz="1125" b="0">
                <a:solidFill>
                  <a:srgbClr val="6B6B67"/>
                </a:solidFill>
              </a:rPr>
              <a:t>Consent + constraints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5117C1-FC67-4C44-A8A5-603E1B1E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7657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3B3893-8057-415B-A9E2-09B2809D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028950"/>
            <a:ext cx="76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9525">
            <a:solidFill>
              <a:srgbClr val="E6394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014382-67BC-46F9-8982-3D75A83A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05025"/>
            <a:ext cx="1952625" cy="2000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152F23-CB36-44DC-8073-DA34B868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05025"/>
            <a:ext cx="19526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9525">
            <a:solidFill>
              <a:srgbClr val="E6394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C29C6D-2D70-4731-98C3-65941797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33625"/>
            <a:ext cx="163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A0A0A"/>
                </a:solidFill>
              </a:defRPr>
            </a:pPr>
            <a:r>
              <a:rPr sz="750" b="1">
                <a:solidFill>
                  <a:srgbClr val="0A0A0A"/>
                </a:solidFill>
              </a:rPr>
              <a:t>U3 / MATCH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EDF448-32EC-4990-8728-7A02D5EF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67000"/>
            <a:ext cx="1619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A0A0A"/>
                </a:solidFill>
              </a:defRPr>
            </a:pPr>
            <a:r>
              <a:rPr sz="1050" b="1">
                <a:solidFill>
                  <a:srgbClr val="0A0A0A"/>
                </a:solidFill>
              </a:rPr>
              <a:t>11-factor deterministic engine</a:t>
            </a:r>
          </a:p>
          <a:p xmlns:a="http://schemas.openxmlformats.org/drawingml/2006/main">
            <a:pPr>
              <a:defRPr sz="1050" b="1">
                <a:solidFill>
                  <a:srgbClr val="0A0A0A"/>
                </a:solidFill>
              </a:defRPr>
            </a:pPr>
            <a:r>
              <a:rPr sz="1050" b="1">
                <a:solidFill>
                  <a:srgbClr val="0A0A0A"/>
                </a:solidFill>
              </a:rPr>
              <a:t>13 diversified recommendations</a:t>
            </a:r>
          </a:p>
          <a:p xmlns:a="http://schemas.openxmlformats.org/drawingml/2006/main">
            <a:pPr>
              <a:defRPr sz="1050" b="1">
                <a:solidFill>
                  <a:srgbClr val="0A0A0A"/>
                </a:solidFill>
              </a:defRPr>
            </a:pPr>
            <a:r>
              <a:rPr sz="1050" b="1">
                <a:solidFill>
                  <a:srgbClr val="0A0A0A"/>
                </a:solidFill>
              </a:rPr>
              <a:t>Confidence + counterfactual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08F7E3-3755-4AFF-9FCC-242476C1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07657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F39301-E15D-467C-861B-19AC3FD8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028950"/>
            <a:ext cx="76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9525">
            <a:solidFill>
              <a:srgbClr val="E6394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FBF466-822B-414B-A551-35B58C9B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105025"/>
            <a:ext cx="1952625" cy="2000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D3CFF7-C6D3-4675-971C-00D4D99B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105025"/>
            <a:ext cx="19526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6B005B-C9CB-4130-BFD2-66D3EDD5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333625"/>
            <a:ext cx="163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A0A0A"/>
                </a:solidFill>
              </a:defRPr>
            </a:pPr>
            <a:r>
              <a:rPr sz="750" b="1">
                <a:solidFill>
                  <a:srgbClr val="0A0A0A"/>
                </a:solidFill>
              </a:rPr>
              <a:t>U4 / PLAN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7B8E0A-2E28-4DA8-A1FD-5943E4AE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667000"/>
            <a:ext cx="1619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B6B67"/>
                </a:solidFill>
              </a:defRPr>
            </a:pPr>
            <a:r>
              <a:rPr sz="1125" b="0">
                <a:solidFill>
                  <a:srgbClr val="6B6B67"/>
                </a:solidFill>
              </a:rPr>
              <a:t>Skill Gap Index</a:t>
            </a:r>
          </a:p>
          <a:p xmlns:a="http://schemas.openxmlformats.org/drawingml/2006/main">
            <a:pPr>
              <a:defRPr sz="1125" b="0">
                <a:solidFill>
                  <a:srgbClr val="6B6B67"/>
                </a:solidFill>
              </a:defRPr>
            </a:pPr>
            <a:r>
              <a:rPr sz="1125" b="0">
                <a:solidFill>
                  <a:srgbClr val="6B6B67"/>
                </a:solidFill>
              </a:rPr>
              <a:t>3 core routes per role</a:t>
            </a:r>
          </a:p>
          <a:p xmlns:a="http://schemas.openxmlformats.org/drawingml/2006/main">
            <a:pPr>
              <a:defRPr sz="1125" b="0">
                <a:solidFill>
                  <a:srgbClr val="6B6B67"/>
                </a:solidFill>
              </a:defRPr>
            </a:pPr>
            <a:r>
              <a:rPr sz="1125" b="0">
                <a:solidFill>
                  <a:srgbClr val="6B6B67"/>
                </a:solidFill>
              </a:rPr>
              <a:t>Learning actions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1BDEAD-712D-48ED-A4D8-1B523077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7657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C377EF-3D82-4F76-8B9F-D342378F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28950"/>
            <a:ext cx="76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9525">
            <a:solidFill>
              <a:srgbClr val="E6394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3B1FF2-9A9C-4FB7-9F41-2B3A349D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05025"/>
            <a:ext cx="1952625" cy="2000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B2B02A-9BA6-42CE-B654-7D1A8BBF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05025"/>
            <a:ext cx="19526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D2"/>
          </a:solidFill>
          <a:ln xmlns:a="http://schemas.openxmlformats.org/drawingml/2006/main" w="9525">
            <a:solidFill>
              <a:srgbClr val="E8E0D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CC645E-24E4-457A-BA41-4199BF02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333625"/>
            <a:ext cx="163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A0A0A"/>
                </a:solidFill>
              </a:defRPr>
            </a:pPr>
            <a:r>
              <a:rPr sz="750" b="1">
                <a:solidFill>
                  <a:srgbClr val="0A0A0A"/>
                </a:solidFill>
              </a:rPr>
              <a:t>U5 / REFRESH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2AC735-8B90-431E-82E5-E3E5FAB4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667000"/>
            <a:ext cx="1619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B6B67"/>
                </a:solidFill>
              </a:defRPr>
            </a:pPr>
            <a:r>
              <a:rPr sz="1125" b="0">
                <a:solidFill>
                  <a:srgbClr val="6B6B67"/>
                </a:solidFill>
              </a:rPr>
              <a:t>Completed actions</a:t>
            </a:r>
          </a:p>
          <a:p xmlns:a="http://schemas.openxmlformats.org/drawingml/2006/main">
            <a:pPr>
              <a:defRPr sz="1125" b="0">
                <a:solidFill>
                  <a:srgbClr val="6B6B67"/>
                </a:solidFill>
              </a:defRPr>
            </a:pPr>
            <a:r>
              <a:rPr sz="1125" b="0">
                <a:solidFill>
                  <a:srgbClr val="6B6B67"/>
                </a:solidFill>
              </a:rPr>
              <a:t>Momentum signal</a:t>
            </a:r>
          </a:p>
          <a:p xmlns:a="http://schemas.openxmlformats.org/drawingml/2006/main">
            <a:pPr>
              <a:defRPr sz="1125" b="0">
                <a:solidFill>
                  <a:srgbClr val="6B6B67"/>
                </a:solidFill>
              </a:defRPr>
            </a:pPr>
            <a:r>
              <a:rPr sz="1125" b="0">
                <a:solidFill>
                  <a:srgbClr val="6B6B67"/>
                </a:solidFill>
              </a:rPr>
              <a:t>Updated explanation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18884C-C4FB-413E-9604-CEBC67B8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33900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E63946"/>
                </a:solidFill>
              </a:defRPr>
            </a:pPr>
            <a:r>
              <a:rPr sz="750" b="1">
                <a:solidFill>
                  <a:srgbClr val="E63946"/>
                </a:solidFill>
              </a:rPr>
              <a:t>AI ASSIST LAYER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5F2E14F-612D-42EA-ABD8-204BCED8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529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B194C0-BCAE-46FB-BEF0-833593A0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2047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Resume / aspiration extraction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7F97F9-C2E0-4692-A6DA-3D94F72E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101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Skill discovery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172B135-2BDF-4FC1-B52D-AADBFA06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010150"/>
            <a:ext cx="2143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Grounded counsellor + dossiers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746EB17-9586-4358-B250-0F456364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0101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Trajectory / interview practice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FB75146-DD7B-4788-931C-9F7A9F29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483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A0A0A"/>
                </a:solidFill>
              </a:defRPr>
            </a:pPr>
            <a:r>
              <a:rPr sz="1425" b="1">
                <a:solidFill>
                  <a:srgbClr val="0A0A0A"/>
                </a:solidFill>
              </a:rPr>
              <a:t>AI clarifies the case; it never assigns the final match score.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BB721FF-B003-4B37-B3C8-5582668F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69532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BECAEF1-3915-4A82-9659-6B38B5DD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53125"/>
            <a:ext cx="6762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REACT + TYPESCRIPT  •  SUPABASE  •  CLOUDFLARE WORKER  •  VERSIONED KNOWLEDGE BASE</a:t>
            </a:r>
          </a:p>
        </p:txBody>
      </p:sp>
    </p:spTree>
    <p:extLst>
      <p:ext uri="{BB962C8B-B14F-4D97-AF65-F5344CB8AC3E}">
        <p14:creationId xmlns:p14="http://schemas.microsoft.com/office/powerpoint/2010/main" val="9626760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9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55A10E-6607-43CC-BB0B-F7DB4421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63946"/>
                </a:solidFill>
              </a:defRPr>
            </a:pPr>
            <a:r>
              <a:rPr sz="900" b="1">
                <a:solidFill>
                  <a:srgbClr val="E63946"/>
                </a:solidFill>
              </a:rPr>
              <a:t>04 / FEASIBILITY &amp; VIABILITY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95A7C2-6DBC-4CDF-889F-82CAEF5E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A0A0A"/>
                </a:solidFill>
              </a:defRPr>
            </a:pPr>
            <a:r>
              <a:rPr sz="2700" b="1">
                <a:solidFill>
                  <a:srgbClr val="0A0A0A"/>
                </a:solidFill>
              </a:rPr>
              <a:t>Built for trust where choices matter.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A69D1D-8FEB-42B5-8185-7F68FEE0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1CBECB-67C8-4884-A8C1-0AD8D0EC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B6B67"/>
                </a:solidFill>
              </a:defRPr>
            </a:pPr>
            <a:r>
              <a:rPr sz="675" b="1">
                <a:solidFill>
                  <a:srgbClr val="6B6B67"/>
                </a:solidFill>
              </a:rPr>
              <a:t>SMART INDIA HACKATHON 2026  /  ETERNALS  / 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39C8ED-B6D5-49CC-8338-ABA29050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38900"/>
            <a:ext cx="1276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A0A0A"/>
                </a:solidFill>
              </a:defRPr>
            </a:pPr>
            <a:r>
              <a:rPr sz="750" b="1">
                <a:solidFill>
                  <a:srgbClr val="0A0A0A"/>
                </a:solidFill>
              </a:rPr>
              <a:t>CAREERCASE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008b7eaa014153"/>
          <a:srcRect xmlns:a="http://schemas.openxmlformats.org/drawingml/2006/main" l="22890" t="0" r="2289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43750" y="1285875"/>
            <a:ext cx="4514850" cy="46863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E41B70-3A42-4AC3-A2BF-18FF690E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B6B67"/>
                </a:solidFill>
              </a:defRPr>
            </a:pPr>
            <a:r>
              <a:rPr sz="1350">
                <a:solidFill>
                  <a:srgbClr val="6B6B67"/>
                </a:solidFill>
              </a:rPr>
              <a:t>A functional prototype for demo and controlled pilots — with risks surfaced, not hidden.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4F6B53-18CD-4168-8F5F-69526A96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E63946"/>
                </a:solidFill>
              </a:defRPr>
            </a:pPr>
            <a:r>
              <a:rPr sz="750" b="1">
                <a:solidFill>
                  <a:srgbClr val="E63946"/>
                </a:solidFill>
              </a:rPr>
              <a:t>RISK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995366-16DF-4B4A-8306-3CA634FB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95500"/>
            <a:ext cx="447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E63946"/>
                </a:solidFill>
              </a:defRPr>
            </a:pPr>
            <a:r>
              <a:rPr sz="750" b="1">
                <a:solidFill>
                  <a:srgbClr val="E63946"/>
                </a:solidFill>
              </a:rPr>
              <a:t>HOW WE REDUCE 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F02D0B-8301-4E26-AECD-624EA23B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4EE553-403B-400C-8477-8FE7965D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86025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A0A0A"/>
                </a:solidFill>
              </a:defRPr>
            </a:pPr>
            <a:r>
              <a:rPr sz="750" b="1">
                <a:solidFill>
                  <a:srgbClr val="0A0A0A"/>
                </a:solidFill>
              </a:rPr>
              <a:t>BLACK-BOX ADVICE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8632BB-3D2A-4162-8255-A9A9A873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669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6B67"/>
                </a:solidFill>
              </a:defRPr>
            </a:pPr>
            <a:r>
              <a:rPr sz="1050">
                <a:solidFill>
                  <a:srgbClr val="6B6B67"/>
                </a:solidFill>
              </a:rPr>
              <a:t>Deterministic 11-factor matching; “Why this?” reveals inputs, weights and gaps.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1892AA-65FD-4FDE-8F68-B03B043E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886075"/>
            <a:ext cx="11430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83F783-7BF3-403D-996B-2AD4163E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924175"/>
            <a:ext cx="10287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0A0A0A"/>
                </a:solidFill>
              </a:defRPr>
            </a:pPr>
            <a:r>
              <a:rPr sz="600" b="1">
                <a:solidFill>
                  <a:srgbClr val="0A0A0A"/>
                </a:solidFill>
              </a:rPr>
              <a:t>IMPLEMENTED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BB5BA0-7630-4C76-B377-85B7FDF9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6230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F01C1A-0AE1-4572-A04A-852B64E7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A0A0A"/>
                </a:solidFill>
              </a:defRPr>
            </a:pPr>
            <a:r>
              <a:rPr sz="750" b="1">
                <a:solidFill>
                  <a:srgbClr val="0A0A0A"/>
                </a:solidFill>
              </a:rPr>
              <a:t>ASSESSMENT BIAS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C51F4B-C903-463D-8A6F-03FEA073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766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6B67"/>
                </a:solidFill>
              </a:defRPr>
            </a:pPr>
            <a:r>
              <a:rPr sz="1050">
                <a:solidFill>
                  <a:srgbClr val="6B6B67"/>
                </a:solidFill>
              </a:rPr>
              <a:t>Exploratory screeners; preserved baseline; capped, disclosed AI evidence adjustment.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1A6884-DA70-457D-96A1-2743CD42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695700"/>
            <a:ext cx="11430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E0D2"/>
          </a:solidFill>
          <a:ln xmlns:a="http://schemas.openxmlformats.org/drawingml/2006/main" w="9525">
            <a:solidFill>
              <a:srgbClr val="E8E0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77B3C-6562-4B2D-BEED-8E16D0FB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733800"/>
            <a:ext cx="10287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0A0A0A"/>
                </a:solidFill>
              </a:defRPr>
            </a:pPr>
            <a:r>
              <a:rPr sz="600" b="1">
                <a:solidFill>
                  <a:srgbClr val="0A0A0A"/>
                </a:solidFill>
              </a:rPr>
              <a:t>PROTOTYPE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8BB4A3-5FFC-4005-89A4-C1345C9B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9BEED5-3E99-4B64-9170-2A16668A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05275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A0A0A"/>
                </a:solidFill>
              </a:defRPr>
            </a:pPr>
            <a:r>
              <a:rPr sz="750" b="1">
                <a:solidFill>
                  <a:srgbClr val="0A0A0A"/>
                </a:solidFill>
              </a:rPr>
              <a:t>STALE / LOCAL CONTEXT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9F043B-ED32-4039-A2AA-A7217F28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8622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6B67"/>
                </a:solidFill>
              </a:defRPr>
            </a:pPr>
            <a:r>
              <a:rPr sz="1050">
                <a:solidFill>
                  <a:srgbClr val="6B6B67"/>
                </a:solidFill>
              </a:rPr>
              <a:t>Versioned NCO / NSQF-grounded knowledge base; source and freshness disclosures.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4F34BF-1AF8-460C-BC84-AC4CCE0C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505325"/>
            <a:ext cx="11430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DF33D3-7B70-47D4-9ABB-008AEF4F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543425"/>
            <a:ext cx="10287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0A0A0A"/>
                </a:solidFill>
              </a:defRPr>
            </a:pPr>
            <a:r>
              <a:rPr sz="600" b="1">
                <a:solidFill>
                  <a:srgbClr val="0A0A0A"/>
                </a:solidFill>
              </a:rPr>
              <a:t>IMPLEMENTED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D8B880-A96B-4B60-B8F9-2E5DFDE5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815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D03586-8FDD-4058-8E78-E80A33FA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A0A0A"/>
                </a:solidFill>
              </a:defRPr>
            </a:pPr>
            <a:r>
              <a:rPr sz="750" b="1">
                <a:solidFill>
                  <a:srgbClr val="0A0A0A"/>
                </a:solidFill>
              </a:rPr>
              <a:t>DATA + ACCESS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085958-59AA-4660-8415-AB7379D1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958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6B67"/>
                </a:solidFill>
              </a:defRPr>
            </a:pPr>
            <a:r>
              <a:rPr sz="1050">
                <a:solidFill>
                  <a:srgbClr val="6B6B67"/>
                </a:solidFill>
              </a:rPr>
              <a:t>Consent, export/delete controls, local continuity and EN / HI / TE core guidance.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AA51E4-36B5-4E18-97D3-C3D82C4C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314950"/>
            <a:ext cx="11430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D9D5DC-56E4-4EF8-A6D7-6FB93272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353050"/>
            <a:ext cx="10287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0A0A0A"/>
                </a:solidFill>
              </a:defRPr>
            </a:pPr>
            <a:r>
              <a:rPr sz="600" b="1">
                <a:solidFill>
                  <a:srgbClr val="0A0A0A"/>
                </a:solidFill>
              </a:rPr>
              <a:t>IMPLEMENTED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4EB218-8E6C-4D08-B152-DC677F97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91175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A4B3F6-5224-486E-855C-F7C85926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62625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E63946"/>
                </a:solidFill>
              </a:defRPr>
            </a:pPr>
            <a:r>
              <a:rPr sz="750" b="1">
                <a:solidFill>
                  <a:srgbClr val="E63946"/>
                </a:solidFill>
              </a:rPr>
              <a:t>BOUNDARY FOR JUDGES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1AA1E7-276F-46A4-B358-9585AEC7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05475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A0A0A"/>
                </a:solidFill>
              </a:defRPr>
            </a:pPr>
            <a:r>
              <a:rPr sz="1350" b="1">
                <a:solidFill>
                  <a:srgbClr val="0A0A0A"/>
                </a:solidFill>
              </a:rPr>
              <a:t>Not a validated psychometric or government-certified production system yet.</a:t>
            </a:r>
          </a:p>
        </p:txBody>
      </p:sp>
    </p:spTree>
    <p:extLst>
      <p:ext uri="{BB962C8B-B14F-4D97-AF65-F5344CB8AC3E}">
        <p14:creationId xmlns:p14="http://schemas.microsoft.com/office/powerpoint/2010/main" val="3690495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9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0B4B65B-FD63-4C35-A9A0-025AE86D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63946"/>
                </a:solidFill>
              </a:defRPr>
            </a:pPr>
            <a:r>
              <a:rPr sz="900" b="1">
                <a:solidFill>
                  <a:srgbClr val="E63946"/>
                </a:solidFill>
              </a:rPr>
              <a:t>05 / IMPACT &amp; BENEFITS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D01BD2-D9D6-4292-9267-63BFAF8E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A0A0A"/>
                </a:solidFill>
              </a:defRPr>
            </a:pPr>
            <a:r>
              <a:rPr sz="2700" b="1">
                <a:solidFill>
                  <a:srgbClr val="0A0A0A"/>
                </a:solidFill>
              </a:rPr>
              <a:t>Career clarity becomes measurable progression.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FC06A2-5B1C-48A4-8BD3-95BE8CE7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D7D56-4681-4F49-8F59-F0A2A9D8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B6B67"/>
                </a:solidFill>
              </a:defRPr>
            </a:pPr>
            <a:r>
              <a:rPr sz="675" b="1">
                <a:solidFill>
                  <a:srgbClr val="6B6B67"/>
                </a:solidFill>
              </a:rPr>
              <a:t>SMART INDIA HACKATHON 2026  /  ETERNALS  /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52DBEA-13A6-44CE-A00C-5EF2BF7B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38900"/>
            <a:ext cx="1276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A0A0A"/>
                </a:solidFill>
              </a:defRPr>
            </a:pPr>
            <a:r>
              <a:rPr sz="750" b="1">
                <a:solidFill>
                  <a:srgbClr val="0A0A0A"/>
                </a:solidFill>
              </a:rPr>
              <a:t>CAREERCASE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8E8D1F-ECEA-4340-AC46-675018CA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B6B67"/>
                </a:solidFill>
              </a:defRPr>
            </a:pPr>
            <a:r>
              <a:rPr sz="1350">
                <a:solidFill>
                  <a:srgbClr val="6B6B67"/>
                </a:solidFill>
              </a:rPr>
              <a:t>CareerCase makes the next move visible for learners—and measurable for the people supporting them.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CF52CB-7DA7-4F1E-90DD-5AC82A0A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E63946"/>
                </a:solidFill>
              </a:defRPr>
            </a:pPr>
            <a:r>
              <a:rPr sz="825" b="1">
                <a:solidFill>
                  <a:srgbClr val="E63946"/>
                </a:solidFill>
              </a:rPr>
              <a:t>BEFORE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229E0B-3B8F-4921-8D59-0B8E2B33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574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E63946"/>
                </a:solidFill>
              </a:defRPr>
            </a:pPr>
            <a:r>
              <a:rPr sz="825" b="1">
                <a:solidFill>
                  <a:srgbClr val="E63946"/>
                </a:solidFill>
              </a:rPr>
              <a:t>WITH CAREERCASE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3AABBE-F050-4069-8971-C3F8659D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19350"/>
            <a:ext cx="4000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C36B7B-6D1D-4023-A57F-4FF5D5A3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19350"/>
            <a:ext cx="4000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68C4F4-2BB7-44BF-B6DD-0F53BC7B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336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A0A0A"/>
                </a:solidFill>
              </a:defRPr>
            </a:pPr>
            <a:r>
              <a:rPr sz="1350" b="1">
                <a:solidFill>
                  <a:srgbClr val="0A0A0A"/>
                </a:solidFill>
              </a:rPr>
              <a:t>Learners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1C985E-02EF-4C0B-8CBE-847B1810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533650"/>
            <a:ext cx="2238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6B67"/>
                </a:solidFill>
              </a:defRPr>
            </a:pPr>
            <a:r>
              <a:rPr sz="1050">
                <a:solidFill>
                  <a:srgbClr val="6B6B67"/>
                </a:solidFill>
              </a:rPr>
              <a:t>Scattered advice</a:t>
            </a:r>
          </a:p>
          <a:p xmlns:a="http://schemas.openxmlformats.org/drawingml/2006/main">
            <a:pPr>
              <a:defRPr sz="1050">
                <a:solidFill>
                  <a:srgbClr val="6B6B67"/>
                </a:solidFill>
              </a:defRPr>
            </a:pPr>
            <a:r>
              <a:rPr sz="1050">
                <a:solidFill>
                  <a:srgbClr val="6B6B67"/>
                </a:solidFill>
              </a:rPr>
              <a:t>and unclear next steps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70C09D-97EB-4E27-AE48-5946753A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78130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2D519D-4B04-4221-8657-BFE64602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33675"/>
            <a:ext cx="76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9525">
            <a:solidFill>
              <a:srgbClr val="E6394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91EBAF-1F9E-4EF4-A641-FCF79554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33650"/>
            <a:ext cx="3667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An explainable fit, a route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and a skill-gap 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219187-2B06-4E12-AA39-44C71E1A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09950"/>
            <a:ext cx="4000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5D7930-B76D-4828-8B57-F049360F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409950"/>
            <a:ext cx="4000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3F90E2-A692-4CB4-B399-7AF53967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A0A0A"/>
                </a:solidFill>
              </a:defRPr>
            </a:pPr>
            <a:r>
              <a:rPr sz="1350" b="1">
                <a:solidFill>
                  <a:srgbClr val="0A0A0A"/>
                </a:solidFill>
              </a:rPr>
              <a:t>Professionals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CE192F-D0AA-48B7-B8C1-9D561D65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524250"/>
            <a:ext cx="2238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6B67"/>
                </a:solidFill>
              </a:defRPr>
            </a:pPr>
            <a:r>
              <a:rPr sz="1050">
                <a:solidFill>
                  <a:srgbClr val="6B6B67"/>
                </a:solidFill>
              </a:rPr>
              <a:t>Transferable skills</a:t>
            </a:r>
          </a:p>
          <a:p xmlns:a="http://schemas.openxmlformats.org/drawingml/2006/main">
            <a:pPr>
              <a:defRPr sz="1050">
                <a:solidFill>
                  <a:srgbClr val="6B6B67"/>
                </a:solidFill>
              </a:defRPr>
            </a:pPr>
            <a:r>
              <a:rPr sz="1050">
                <a:solidFill>
                  <a:srgbClr val="6B6B67"/>
                </a:solidFill>
              </a:rPr>
              <a:t>stay invisible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8C3D39-3E1D-469B-80C6-D507E122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77190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8237A3-C7B6-490E-B6B1-8C5EF8B6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724275"/>
            <a:ext cx="76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9525">
            <a:solidFill>
              <a:srgbClr val="E6394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E2B535-F71E-4256-8F2D-46B5082B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524250"/>
            <a:ext cx="3667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Viable transition routes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with trade-offs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3261CE-3141-4CD4-A99F-A5110A1D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00550"/>
            <a:ext cx="4000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2A67A6-C971-44B1-AC88-50C8F1FE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400550"/>
            <a:ext cx="4000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634B93-6F19-4E1A-BBBC-3EBBA797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148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A0A0A"/>
                </a:solidFill>
              </a:defRPr>
            </a:pPr>
            <a:r>
              <a:rPr sz="1350" b="1">
                <a:solidFill>
                  <a:srgbClr val="0A0A0A"/>
                </a:solidFill>
              </a:rPr>
              <a:t>Counsellors + institutions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4D55A6-48EF-4D31-9E2C-55129A02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514850"/>
            <a:ext cx="2238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6B67"/>
                </a:solidFill>
              </a:defRPr>
            </a:pPr>
            <a:r>
              <a:rPr sz="1050">
                <a:solidFill>
                  <a:srgbClr val="6B6B67"/>
                </a:solidFill>
              </a:rPr>
              <a:t>Fragmented, one-size-</a:t>
            </a:r>
          </a:p>
          <a:p xmlns:a="http://schemas.openxmlformats.org/drawingml/2006/main">
            <a:pPr>
              <a:defRPr sz="1050">
                <a:solidFill>
                  <a:srgbClr val="6B6B67"/>
                </a:solidFill>
              </a:defRPr>
            </a:pPr>
            <a:r>
              <a:rPr sz="1050">
                <a:solidFill>
                  <a:srgbClr val="6B6B67"/>
                </a:solidFill>
              </a:rPr>
              <a:t>fits-all guidance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1FA02F-9965-4CE5-BBD3-386C3F38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6250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8FC748-5CCC-4C03-B3F8-7C5E43DF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714875"/>
            <a:ext cx="76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9525">
            <a:solidFill>
              <a:srgbClr val="E6394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5E1DE8-1E4C-4EC3-AE85-E6D1633F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514850"/>
            <a:ext cx="3667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A structured case file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and follow-through signal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A3C9DE-80B0-4B98-B39C-FFD2B388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57400"/>
            <a:ext cx="2095500" cy="37719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3D8114-C39A-4457-B6C1-A7A4C3A0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286000"/>
            <a:ext cx="163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D166"/>
                </a:solidFill>
              </a:defRPr>
            </a:pPr>
            <a:r>
              <a:rPr sz="750" b="1">
                <a:solidFill>
                  <a:srgbClr val="FFD166"/>
                </a:solidFill>
              </a:rPr>
              <a:t>PILOT SCORECARD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84379E-68B3-4B96-ADC5-0BC61879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581275"/>
            <a:ext cx="1638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67CF13-57D4-4DEA-8F22-A0E69C29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194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63946"/>
          </a:solidFill>
          <a:ln xmlns:a="http://schemas.openxmlformats.org/drawingml/2006/main" w="9525">
            <a:solidFill>
              <a:srgbClr val="E6394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C6992E-2F52-49E3-9972-28BA6CEF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857500"/>
            <a:ext cx="17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A0A0A"/>
                </a:solidFill>
              </a:defRPr>
            </a:pPr>
            <a:r>
              <a:rPr sz="675" b="1">
                <a:solidFill>
                  <a:srgbClr val="0A0A0A"/>
                </a:solidFill>
              </a:rPr>
              <a:t>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237EB7-5B65-4266-9241-6AFE2D85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8289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Decision clarity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7D417C-DC3B-4213-8E11-C0B523C7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337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C50D10-36AA-4641-B0DB-F237BD6B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371850"/>
            <a:ext cx="17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A0A0A"/>
                </a:solidFill>
              </a:defRPr>
            </a:pPr>
            <a:r>
              <a:rPr sz="675" b="1">
                <a:solidFill>
                  <a:srgbClr val="0A0A0A"/>
                </a:solidFill>
              </a:rPr>
              <a:t>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A0C02F-7C80-402E-8AF1-2DE84D5E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34327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Routes started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77B2AAB-7F0A-4DA1-B5F1-C069391B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8481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8C8246-A48F-4B05-A88E-5B7273E4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886200"/>
            <a:ext cx="17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A0A0A"/>
                </a:solidFill>
              </a:defRPr>
            </a:pPr>
            <a:r>
              <a:rPr sz="675" b="1">
                <a:solidFill>
                  <a:srgbClr val="0A0A0A"/>
                </a:solidFill>
              </a:rPr>
              <a:t>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C17D13D-1DFA-4727-B3DA-1DD0B22D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8576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Skill evidence gained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F1F0B22-9220-4FF6-95B5-6EE6AD99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3624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55A497-A5E3-4659-AA19-8E7C0A29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400550"/>
            <a:ext cx="17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A0A0A"/>
                </a:solidFill>
              </a:defRPr>
            </a:pPr>
            <a:r>
              <a:rPr sz="675" b="1">
                <a:solidFill>
                  <a:srgbClr val="0A0A0A"/>
                </a:solidFill>
              </a:rPr>
              <a:t>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7208735-80F9-4ED4-8524-FB4891BF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37197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Recommendation stability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D462629-BFA3-4559-A66E-8D04FF95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8768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469B206-022B-4831-A403-1F81EBDD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914900"/>
            <a:ext cx="17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A0A0A"/>
                </a:solidFill>
              </a:defRPr>
            </a:pPr>
            <a:r>
              <a:rPr sz="675" b="1">
                <a:solidFill>
                  <a:srgbClr val="0A0A0A"/>
                </a:solidFill>
              </a:rPr>
              <a:t>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02B495E-F0D4-4545-AC88-34A59BBF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8863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Pathway completion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1F225ED-0F5D-4964-A338-E456FD9B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4673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E8E0D2"/>
                </a:solidFill>
              </a:defRPr>
            </a:pPr>
            <a:r>
              <a:rPr sz="825">
                <a:solidFill>
                  <a:srgbClr val="E8E0D2"/>
                </a:solidFill>
              </a:rPr>
              <a:t>Validation plan — outcomes are not claimed as achieved.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46123C0-5C98-4980-8166-646AFE76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655320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7F02881-D49A-4201-8879-E756179D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0275"/>
            <a:ext cx="6362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5 USER SEGMENTS  •  3 CORE GUIDANCE LANGUAGES  •  3 ROUTES PER OCCUPATION</a:t>
            </a:r>
          </a:p>
        </p:txBody>
      </p:sp>
    </p:spTree>
    <p:extLst>
      <p:ext uri="{BB962C8B-B14F-4D97-AF65-F5344CB8AC3E}">
        <p14:creationId xmlns:p14="http://schemas.microsoft.com/office/powerpoint/2010/main" val="2160568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9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CC270C-709A-4F1C-9986-80170FC2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63946"/>
                </a:solidFill>
              </a:defRPr>
            </a:pPr>
            <a:r>
              <a:rPr sz="900" b="1">
                <a:solidFill>
                  <a:srgbClr val="E63946"/>
                </a:solidFill>
              </a:rPr>
              <a:t>06 / RESEARCH &amp; 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D09DAE-C6E0-466D-884A-70F7C0E5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A0A0A"/>
                </a:solidFill>
              </a:defRPr>
            </a:pPr>
            <a:r>
              <a:rPr sz="2700" b="1">
                <a:solidFill>
                  <a:srgbClr val="0A0A0A"/>
                </a:solidFill>
              </a:rPr>
              <a:t>Every recommendation carries its evidence forward.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22AB15-6DF4-4FB5-931F-50B5CC7C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700FC3-2BD0-432D-A7DC-4F6650F0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B6B67"/>
                </a:solidFill>
              </a:defRPr>
            </a:pPr>
            <a:r>
              <a:rPr sz="675" b="1">
                <a:solidFill>
                  <a:srgbClr val="6B6B67"/>
                </a:solidFill>
              </a:rPr>
              <a:t>SMART INDIA HACKATHON 2026  /  ETERNALS  / 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8EB23D-FE65-4C4C-AA07-4FF4FB82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38900"/>
            <a:ext cx="1276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A0A0A"/>
                </a:solidFill>
              </a:defRPr>
            </a:pPr>
            <a:r>
              <a:rPr sz="750" b="1">
                <a:solidFill>
                  <a:srgbClr val="0A0A0A"/>
                </a:solidFill>
              </a:rPr>
              <a:t>CAREERCASE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053E10-34C5-46AE-84CB-DE789B87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819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B6B67"/>
                </a:solidFill>
              </a:defRPr>
            </a:pPr>
            <a:r>
              <a:rPr sz="1350">
                <a:solidFill>
                  <a:srgbClr val="6B6B67"/>
                </a:solidFill>
              </a:rPr>
              <a:t>Our proof is a case file: the problem is traceable, the decision is inspectable, and the demo follows the same path.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7ad4a370d14a79"/>
          <a:srcRect xmlns:a="http://schemas.openxmlformats.org/drawingml/2006/main" l="0" t="66" r="0" b="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77050" y="1962150"/>
            <a:ext cx="4781550" cy="26860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82E8C9-8352-4C46-AF3D-7C73F3CF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62150"/>
            <a:ext cx="4781550" cy="2686050"/>
          </a:xfrm>
          <a:prstGeom xmlns:a="http://schemas.openxmlformats.org/drawingml/2006/main" prst="roundRect">
            <a:avLst>
              <a:gd name="adj" fmla="val 283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33AFA7-47D1-4D39-A5C1-C9BE40DB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362450"/>
            <a:ext cx="20002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1082DB-073A-4DF2-9294-B7D2816E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10075"/>
            <a:ext cx="1809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LIVE PROTOTYPE / CAREERCASE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9C27D3-B1BB-4381-BF27-3F758EC9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24075"/>
            <a:ext cx="26860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872314-83C2-4661-8C3B-C798D92A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2333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E63946"/>
                </a:solidFill>
              </a:defRPr>
            </a:pPr>
            <a:r>
              <a:rPr sz="750" b="1">
                <a:solidFill>
                  <a:srgbClr val="E63946"/>
                </a:solidFill>
              </a:rPr>
              <a:t>PROBLEM BASIS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38F28A-9C16-45B1-B287-E724DCD9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MSDE / SIH 2026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SIH260480 problem statement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B0AC96-8EC4-413B-BE1B-E1A88CD8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24075"/>
            <a:ext cx="26860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E64B6D-024B-4075-9697-8DB27450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76475"/>
            <a:ext cx="2333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E63946"/>
                </a:solidFill>
              </a:defRPr>
            </a:pPr>
            <a:r>
              <a:rPr sz="750" b="1">
                <a:solidFill>
                  <a:srgbClr val="E63946"/>
                </a:solidFill>
              </a:rPr>
              <a:t>CAREER KNOWLEDGE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219785-2D35-4BD1-B808-351AB970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3365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NCO-2015 roles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NQR / NSQF levels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83EBB8-856E-408A-883D-AF04D606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76625"/>
            <a:ext cx="26860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6ED0A8-EAF7-4767-BF42-5DD22003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29025"/>
            <a:ext cx="2333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D166"/>
                </a:solidFill>
              </a:defRPr>
            </a:pPr>
            <a:r>
              <a:rPr sz="750" b="1">
                <a:solidFill>
                  <a:srgbClr val="FFD166"/>
                </a:solidFill>
              </a:rPr>
              <a:t>PRODUCT PROOF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1C821A-BFDD-425F-9FD5-B46FFE3E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100 roles · 178 skills</a:t>
            </a:r>
          </a:p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105 qualifications · 300 transitions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189095-802F-4F4A-BC29-55CC0CBC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476625"/>
            <a:ext cx="26860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1489D6-365E-4360-8663-B7E78D82C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629025"/>
            <a:ext cx="2333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E63946"/>
                </a:solidFill>
              </a:defRPr>
            </a:pPr>
            <a:r>
              <a:rPr sz="750" b="1">
                <a:solidFill>
                  <a:srgbClr val="E63946"/>
                </a:solidFill>
              </a:rPr>
              <a:t>QUALITY + LIMITS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4E49E0-6FD6-426F-A750-A60AA7BF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862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Deterministic checks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Prototype; pilot next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1C031E-F640-47C5-83C6-6FDA337D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91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E63946"/>
                </a:solidFill>
              </a:defRPr>
            </a:pPr>
            <a:r>
              <a:rPr sz="750" b="1">
                <a:solidFill>
                  <a:srgbClr val="E63946"/>
                </a:solidFill>
              </a:rPr>
              <a:t>Demo sequence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97F254-03D1-4422-884F-DC48C32D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29225"/>
            <a:ext cx="600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A0A0A"/>
                </a:solidFill>
              </a:defRPr>
            </a:pPr>
            <a:r>
              <a:rPr sz="1500" b="1">
                <a:solidFill>
                  <a:srgbClr val="0A0A0A"/>
                </a:solidFill>
              </a:rPr>
              <a:t>Discover  →  Build  →  Match  →  Explain  →  Advance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642D28-2924-474D-8FF0-6AC52B88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C8699A-1E27-4504-9D29-0C10246A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9120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6B6B67"/>
                </a:solidFill>
              </a:defRPr>
            </a:pPr>
            <a:r>
              <a:rPr sz="600">
                <a:solidFill>
                  <a:srgbClr val="6B6B67"/>
                </a:solidFill>
              </a:rPr>
              <a:t>Repository: github.com/KamalReddy2901/AI-Enhanced-Career-Guidance-System-for-Personalized-Career-Pathways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66D792-516C-4B41-931E-9D1D4D30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076825"/>
            <a:ext cx="4381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A0A0A"/>
                </a:solidFill>
              </a:defRPr>
            </a:pPr>
            <a:r>
              <a:rPr sz="2250" b="1">
                <a:solidFill>
                  <a:srgbClr val="0A0A0A"/>
                </a:solidFill>
              </a:rPr>
              <a:t>The guidance must be personal.</a:t>
            </a:r>
          </a:p>
          <a:p xmlns:a="http://schemas.openxmlformats.org/drawingml/2006/main">
            <a:pPr>
              <a:defRPr sz="2250" b="1">
                <a:solidFill>
                  <a:srgbClr val="0A0A0A"/>
                </a:solidFill>
              </a:defRPr>
            </a:pPr>
            <a:r>
              <a:rPr sz="2250" b="1">
                <a:solidFill>
                  <a:srgbClr val="0A0A0A"/>
                </a:solidFill>
              </a:rPr>
              <a:t>The case must be credible.</a:t>
            </a:r>
          </a:p>
        </p:txBody>
      </p:sp>
    </p:spTree>
    <p:extLst>
      <p:ext uri="{BB962C8B-B14F-4D97-AF65-F5344CB8AC3E}">
        <p14:creationId xmlns:p14="http://schemas.microsoft.com/office/powerpoint/2010/main" val="1239693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2026-08-15T17:09:47.5030000Z</dcterms:created>
  <dcterms:modified xsi:type="dcterms:W3CDTF">2026-08-15T17:09:47.5040000Z</dcterms:modified>
</coreProperties>
</file>