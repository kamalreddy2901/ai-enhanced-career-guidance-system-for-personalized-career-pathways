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2505e30eb4f07" /><Relationship Type="http://schemas.openxmlformats.org/officeDocument/2006/relationships/extended-properties" Target="/docProps/app.xml" Id="Rd5a1458b08264ee8" /><Relationship Type="http://schemas.openxmlformats.org/officeDocument/2006/relationships/officeDocument" Target="/ppt/presentation.xml" Id="R3ca6d435df07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75b0e87a3c41f6"/>
  </p:sldMasterIdLst>
  <p:notesMasterIdLst>
    <p:notesMasterId xmlns:r="http://schemas.openxmlformats.org/officeDocument/2006/relationships" r:id="Rcf966d8528ba4c5d"/>
  </p:notesMasterIdLst>
  <p:sldIdLst>
    <p:sldId xmlns:r="http://schemas.openxmlformats.org/officeDocument/2006/relationships" id="256" r:id="R349aca3fd3d54d65"/>
    <p:sldId xmlns:r="http://schemas.openxmlformats.org/officeDocument/2006/relationships" id="257" r:id="R7bb0cd080fbb44d6"/>
    <p:sldId xmlns:r="http://schemas.openxmlformats.org/officeDocument/2006/relationships" id="258" r:id="Ra4e9b79204a64819"/>
    <p:sldId xmlns:r="http://schemas.openxmlformats.org/officeDocument/2006/relationships" id="259" r:id="Re50299334b264b4f"/>
    <p:sldId xmlns:r="http://schemas.openxmlformats.org/officeDocument/2006/relationships" id="260" r:id="R269ddcbe611a4f2b"/>
    <p:sldId xmlns:r="http://schemas.openxmlformats.org/officeDocument/2006/relationships" id="261" r:id="R5d59d90e5fcf4e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1bc3a43104f31" /><Relationship Type="http://schemas.openxmlformats.org/officeDocument/2006/relationships/slideMaster" Target="/ppt/slideMasters/slideMaster1.xml" Id="Ref75b0e87a3c41f6" /><Relationship Type="http://schemas.openxmlformats.org/officeDocument/2006/relationships/notesMaster" Target="/ppt/notesMasters/notesMaster1.xml" Id="Rcf966d8528ba4c5d" /><Relationship Type="http://schemas.openxmlformats.org/officeDocument/2006/relationships/presProps" Target="/ppt/presProps.xml" Id="Rd6723a3f376649f0" /><Relationship Type="http://schemas.openxmlformats.org/officeDocument/2006/relationships/tableStyles" Target="/ppt/tableStyles.xml" Id="R2c718c0bd3a943e9" /><Relationship Type="http://schemas.openxmlformats.org/officeDocument/2006/relationships/slide" Target="/ppt/slides/slide1.xml" Id="R349aca3fd3d54d65" /><Relationship Type="http://schemas.openxmlformats.org/officeDocument/2006/relationships/slide" Target="/ppt/slides/slide2.xml" Id="R7bb0cd080fbb44d6" /><Relationship Type="http://schemas.openxmlformats.org/officeDocument/2006/relationships/slide" Target="/ppt/slides/slide3.xml" Id="Ra4e9b79204a64819" /><Relationship Type="http://schemas.openxmlformats.org/officeDocument/2006/relationships/slide" Target="/ppt/slides/slide4.xml" Id="Re50299334b264b4f" /><Relationship Type="http://schemas.openxmlformats.org/officeDocument/2006/relationships/slide" Target="/ppt/slides/slide5.xml" Id="R269ddcbe611a4f2b" /><Relationship Type="http://schemas.openxmlformats.org/officeDocument/2006/relationships/slide" Target="/ppt/slides/slide6.xml" Id="R5d59d90e5fcf4e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edaec0005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bde171d5e34f10" /><Relationship Type="http://schemas.openxmlformats.org/officeDocument/2006/relationships/notesMaster" Target="/ppt/notesMasters/notesMaster1.xml" Id="R7351d4340d78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e202fd296d4ef5" /><Relationship Type="http://schemas.openxmlformats.org/officeDocument/2006/relationships/notesMaster" Target="/ppt/notesMasters/notesMaster1.xml" Id="R6a5d7b76aa7d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15ebe78c5d4522" /><Relationship Type="http://schemas.openxmlformats.org/officeDocument/2006/relationships/notesMaster" Target="/ppt/notesMasters/notesMaster1.xml" Id="R54db49cd4567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a48a7a73b845f9" /><Relationship Type="http://schemas.openxmlformats.org/officeDocument/2006/relationships/notesMaster" Target="/ppt/notesMasters/notesMaster1.xml" Id="Rfbadc0b82afe4f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0e731a2e0b4a60" /><Relationship Type="http://schemas.openxmlformats.org/officeDocument/2006/relationships/notesMaster" Target="/ppt/notesMasters/notesMaster1.xml" Id="R896589f81a2a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8044ea4a334609" /><Relationship Type="http://schemas.openxmlformats.org/officeDocument/2006/relationships/notesMaster" Target="/ppt/notesMasters/notesMaster1.xml" Id="R0f0f15e2102f45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User-provided: The Problem Statement.md (SIH260480).</a:t>
            </a:r>
          </a:p>
          <a:p xmlns:a="http://schemas.openxmlformats.org/drawingml/2006/main">
            <a:r>
              <a:t>Internal: PROJECT_BRIEF.md.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User-provided: The Problem Statement.md.</a:t>
            </a:r>
          </a:p>
          <a:p xmlns:a="http://schemas.openxmlformats.org/drawingml/2006/main">
            <a:r>
              <a:t>Internal: PROJECT_BRIEF.md — Career Passport, matching engine, pathway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Internal: PROJECT_BRIEF.md — architecture and technology stack.</a:t>
            </a:r>
          </a:p>
          <a:p xmlns:a="http://schemas.openxmlformats.org/drawingml/2006/main">
            <a:r>
              <a:t>National Career Service NCO-2015: https://www.ncs.gov.in/Documents/National%20Classification%20of%20Occupations%20_Vol%20I-%202015.pdf</a:t>
            </a:r>
          </a:p>
          <a:p xmlns:a="http://schemas.openxmlformats.org/drawingml/2006/main">
            <a:r>
              <a:t>National Qualifications Register: https://www.nqr.gov.in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Internal: PROJECT_BRIEF.md — deterministic core, product architecture, privacy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User-provided: The Problem Statement.md — expected outcomes.</a:t>
            </a:r>
          </a:p>
          <a:p xmlns:a="http://schemas.openxmlformats.org/drawingml/2006/main">
            <a:r>
              <a:t>Internal: PROJECT_BRIEF.md — supported user segments and user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User-provided: The Problem Statement.md.</a:t>
            </a:r>
          </a:p>
          <a:p xmlns:a="http://schemas.openxmlformats.org/drawingml/2006/main">
            <a:r>
              <a:t>National Career Service (NCO-2015): https://www.ncs.gov.in/Documents/National%20Classification%20of%20Occupations%20_Vol%20I-%202015.pdf</a:t>
            </a:r>
          </a:p>
          <a:p xmlns:a="http://schemas.openxmlformats.org/drawingml/2006/main">
            <a:r>
              <a:t>National Qualifications Register: https://www.nqr.gov.in</a:t>
            </a:r>
          </a:p>
          <a:p xmlns:a="http://schemas.openxmlformats.org/drawingml/2006/main">
            <a:r>
              <a:t>MSDE / NCVET: https://www.msde.gov.in/ministry/our-organisation/details/national-council-for-vocational-education-and-training-ncvet-YTM1ATMtQWa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d3b8c3348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5cc0172f84ce1" /><Relationship Type="http://schemas.openxmlformats.org/officeDocument/2006/relationships/slideLayout" Target="/ppt/slideLayouts/slideLayout1.xml" Id="R9e6b1539c8b94b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6b1539c8b94b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a0dbaa138433e" /><Relationship Type="http://schemas.openxmlformats.org/officeDocument/2006/relationships/notesSlide" Target="/ppt/notesSlides/notesSlide1.xml" Id="Rb3f4dd9be3f3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c3336c7dd4c1f" /><Relationship Type="http://schemas.openxmlformats.org/officeDocument/2006/relationships/notesSlide" Target="/ppt/notesSlides/notesSlide2.xml" Id="Rdc42921383f647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37ccbd59e40fc" /><Relationship Type="http://schemas.openxmlformats.org/officeDocument/2006/relationships/notesSlide" Target="/ppt/notesSlides/notesSlide3.xml" Id="R9812e4e7c6cd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6e225266048da" /><Relationship Type="http://schemas.openxmlformats.org/officeDocument/2006/relationships/notesSlide" Target="/ppt/notesSlides/notesSlide4.xml" Id="R7b1a8b03a5204d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d520ec199461b" /><Relationship Type="http://schemas.openxmlformats.org/officeDocument/2006/relationships/notesSlide" Target="/ppt/notesSlides/notesSlide5.xml" Id="Rae3f7778347d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af72488440c3" /><Relationship Type="http://schemas.openxmlformats.org/officeDocument/2006/relationships/notesSlide" Target="/ppt/notesSlides/notesSlide6.xml" Id="R5a125544e6544b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BB562-AFE2-43D2-985A-5B44C9EF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3FC7-E98E-4C70-84D6-8948F8A7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CAREER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2599D-D0A4-4763-928F-94926CE0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66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66662"/>
                </a:solidFill>
              </a:defRPr>
            </a:pPr>
            <a:r>
              <a:rPr sz="1500" b="1">
                <a:solidFill>
                  <a:srgbClr val="666662"/>
                </a:solidFill>
              </a:rPr>
              <a:t>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D2A3-7726-4051-8CFA-CEBFF14D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33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4312C28C-8DE7-4A6F-9D02-F92D38DD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SMART INDIA HACKATHON 2026 · SMART EDUCATION · SOFTWARE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E16D4E-2DCF-4D83-AC76-87B1E41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5025" b="1">
                <a:solidFill>
                  <a:srgbClr val="0A0A0A"/>
                </a:solidFill>
              </a:defRPr>
            </a:pPr>
            <a:r>
              <a:rPr sz="5025" b="1">
                <a:solidFill>
                  <a:srgbClr val="0A0A0A"/>
                </a:solidFill>
              </a:rPr>
              <a:t>A career decision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5025" b="1">
                <a:solidFill>
                  <a:srgbClr val="0A0A0A"/>
                </a:solidFill>
              </a:defRPr>
            </a:pPr>
            <a:r>
              <a:rPr sz="5025" b="1">
                <a:solidFill>
                  <a:srgbClr val="0A0A0A"/>
                </a:solidFill>
              </a:rPr>
              <a:t>should come with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5025" b="1">
                <a:solidFill>
                  <a:srgbClr val="0A0A0A"/>
                </a:solidFill>
              </a:defRPr>
            </a:pPr>
            <a:r>
              <a:rPr sz="5025" b="1">
                <a:solidFill>
                  <a:srgbClr val="0A0A0A"/>
                </a:solidFill>
              </a:rPr>
              <a:t>a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24FD7-56B7-4705-BA21-BB9D878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9CC1B-74F0-4EDB-BCBD-18B6EBEF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0">
                <a:solidFill>
                  <a:srgbClr val="4A4A4A"/>
                </a:solidFill>
              </a:defRPr>
            </a:pPr>
            <a:r>
              <a:rPr sz="1725" b="0">
                <a:solidFill>
                  <a:srgbClr val="4A4A4A"/>
                </a:solidFill>
              </a:rPr>
              <a:t>CareerCase turns aptitude, aspirations, abilities and experience into explainable, India-grounded career pathways.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6ED25-9323-492A-AD5A-6B4A65D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0BE131A6-29F3-428F-80EA-2C3CC0E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E8C3-9D47-45A9-BA68-E14415A3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955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AI-ENHANCED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CAREER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BD141-0408-4117-B42A-A89F566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24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66662"/>
                </a:solidFill>
              </a:defRPr>
            </a:pPr>
            <a:r>
              <a:rPr sz="900" b="1">
                <a:solidFill>
                  <a:srgbClr val="666662"/>
                </a:solidFill>
              </a:rPr>
              <a:t>PS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97544-CC01-46A0-A318-E311779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</a:defRPr>
            </a:pPr>
            <a:r>
              <a:rPr sz="2175" b="1">
                <a:solidFill>
                  <a:srgbClr val="0A0A0A"/>
                </a:solidFill>
              </a:rPr>
              <a:t>SIH260480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CF5E8-0EB9-485E-898E-5E01B3F1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TEAM CAREERCASE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CBDAD-CA9F-453F-9E1E-FA1A6FC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057900"/>
            <a:ext cx="421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66662"/>
                </a:solidFill>
              </a:defRPr>
            </a:pPr>
            <a:r>
              <a:rPr sz="975" b="0">
                <a:solidFill>
                  <a:srgbClr val="666662"/>
                </a:solidFill>
              </a:rPr>
              <a:t>Ministry of Skill Development &amp; Entrepreneurship</a:t>
            </a:r>
          </a:p>
        </p:txBody>
      </p:sp>
    </p:spTree>
    <p:extLst>
      <p:ext uri="{BB962C8B-B14F-4D97-AF65-F5344CB8AC3E}">
        <p14:creationId xmlns:p14="http://schemas.microsoft.com/office/powerpoint/2010/main" val="1628897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career">
            <a:extLst xmlns:a="http://schemas.openxmlformats.org/drawingml/2006/main">
              <a:ext uri="{FF2B5EF4-FFF2-40B4-BE49-F238E27FC236}">
                <a16:creationId xmlns:a16="http://schemas.microsoft.com/office/drawing/2014/main" id="{789985A3-E5AF-4EE4-B35E-4C754B9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CAREER</a:t>
            </a:r>
          </a:p>
        </p:txBody>
      </p:sp>
      <p:sp>
        <p:nvSpPr>
          <p:cNvPr id="2" name="brand-case">
            <a:extLst xmlns:a="http://schemas.openxmlformats.org/drawingml/2006/main">
              <a:ext uri="{FF2B5EF4-FFF2-40B4-BE49-F238E27FC236}">
                <a16:creationId xmlns:a16="http://schemas.microsoft.com/office/drawing/2014/main" id="{AD0808CA-EC9B-4943-856E-A62D505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6662"/>
                </a:solidFill>
              </a:defRPr>
            </a:pPr>
            <a:r>
              <a:rPr sz="1050" b="1">
                <a:solidFill>
                  <a:srgbClr val="666662"/>
                </a:solidFill>
              </a:rPr>
              <a:t>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518F-C340-4EBA-864A-41C9ABF0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CBF64-CA8F-4731-85BE-2E9D115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6662"/>
                </a:solidFill>
              </a:defRPr>
            </a:pPr>
            <a:r>
              <a:rPr sz="975" b="1">
                <a:solidFill>
                  <a:srgbClr val="66666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9A1B6-0169-4AC1-8EC5-DAAB1E1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7CBEBC1-8E56-4860-9FBC-246AFAB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PROPOSED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542C0-03F9-4300-A407-C2937A47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Not a chatbot.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0A0A0A"/>
                </a:solidFill>
              </a:defRPr>
            </a:pPr>
            <a:r>
              <a:rPr sz="3900" b="1">
                <a:solidFill>
                  <a:srgbClr val="0A0A0A"/>
                </a:solidFill>
              </a:rPr>
              <a:t>A career case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9FA22-63CF-423F-998D-E045C212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4A4A4A"/>
                </a:solidFill>
              </a:defRPr>
            </a:pPr>
            <a:r>
              <a:rPr sz="1575" b="0">
                <a:solidFill>
                  <a:srgbClr val="4A4A4A"/>
                </a:solidFill>
              </a:rPr>
              <a:t>CareerCase builds a living Career Passport, ranks viable occupations transparently, then maps the next steps to get there.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61591-3262-400E-9D56-098D5E1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91025"/>
            <a:ext cx="709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D4D49-15DF-454F-9473-371A0A1C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91025"/>
            <a:ext cx="523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096C7-BA06-4FDA-BE82-660CF21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62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7F409-D808-422B-92BB-E2118E1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95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41A99-AAF9-4B0A-A4CC-4717184B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57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01B09-251B-4B13-8012-75A5FDA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530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Aptitude · interests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values · experience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04BC8-930F-44BB-BF4C-088FBFD8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62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D9E56-B573-4669-B0AE-661B717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95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F6AB5-98B2-4D95-85B3-08F80568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5DEEC-0307-4140-81CA-86F3998E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530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Explainable fit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across 11 dimensions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2FCEC-0FA4-414B-B824-4064B51E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818EF-E9F4-41B4-8765-437AE49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BDCCF-9DA7-4C81-BD15-CE6D108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577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FB77E-9638-4B41-938F-C80ABBBF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1530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Skill gaps · routes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A4A4A"/>
                </a:solidFill>
              </a:defRPr>
            </a:pPr>
            <a:r>
              <a:rPr sz="1200" b="0">
                <a:solidFill>
                  <a:srgbClr val="4A4A4A"/>
                </a:solidFill>
              </a:rPr>
              <a:t>progress 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6F1EC-8FFF-49B9-894C-658D68D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381125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05810B7C-4BFE-4714-98C8-A2A1AD7D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335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4262F-3649-4512-9C16-55A0F115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287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THE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8A866-1206-4B16-B604-A37E3E8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81200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Every match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comes with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reason.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018FDD-B8EC-4721-A08A-23080DD0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D7D7D2"/>
                </a:solidFill>
              </a:defRPr>
            </a:pPr>
            <a:r>
              <a:rPr sz="975" b="0">
                <a:solidFill>
                  <a:srgbClr val="D7D7D2"/>
                </a:solidFill>
              </a:rPr>
              <a:t>Students ·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092809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career">
            <a:extLst xmlns:a="http://schemas.openxmlformats.org/drawingml/2006/main">
              <a:ext uri="{FF2B5EF4-FFF2-40B4-BE49-F238E27FC236}">
                <a16:creationId xmlns:a16="http://schemas.microsoft.com/office/drawing/2014/main" id="{0F0E9A6B-8810-48E9-A7A9-D7B9D40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CAREER</a:t>
            </a:r>
          </a:p>
        </p:txBody>
      </p:sp>
      <p:sp>
        <p:nvSpPr>
          <p:cNvPr id="2" name="brand-case">
            <a:extLst xmlns:a="http://schemas.openxmlformats.org/drawingml/2006/main">
              <a:ext uri="{FF2B5EF4-FFF2-40B4-BE49-F238E27FC236}">
                <a16:creationId xmlns:a16="http://schemas.microsoft.com/office/drawing/2014/main" id="{D8EE6061-5699-416C-ABC1-29343C6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6662"/>
                </a:solidFill>
              </a:defRPr>
            </a:pPr>
            <a:r>
              <a:rPr sz="1050" b="1">
                <a:solidFill>
                  <a:srgbClr val="666662"/>
                </a:solidFill>
              </a:rPr>
              <a:t>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CBC65-4A50-4478-B223-AFBB3251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BCF7-ACFF-44B5-9DFB-F55E2FE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6662"/>
                </a:solidFill>
              </a:defRPr>
            </a:pPr>
            <a:r>
              <a:rPr sz="975" b="1">
                <a:solidFill>
                  <a:srgbClr val="66666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BABE5-2FFD-4767-9180-42AB6246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69772D08-49C7-42D6-8343-D129035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TECHNICAL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5C65F-97BD-4DEE-8719-32B1B04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38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Evidence in.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Action explained.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75860-CDF2-4C4B-B4FB-95D37AE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0">
                <a:solidFill>
                  <a:srgbClr val="4A4A4A"/>
                </a:solidFill>
              </a:defRPr>
            </a:pPr>
            <a:r>
              <a:rPr sz="1500" b="0">
                <a:solidFill>
                  <a:srgbClr val="4A4A4A"/>
                </a:solidFill>
              </a:rPr>
              <a:t>A hybrid architecture keeps high-stakes decisions deterministic—and uses AI where language and live context add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6C5E-C96B-4CB2-8759-6007E1B4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790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F2249-6603-400A-8A4B-AD5767D3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67200"/>
            <a:ext cx="790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A15C5-52BB-43AD-8FDC-E0898CB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496E7-09EA-4C71-B1CA-6F2BB39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576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7048E-736C-49B1-8E73-0FC7C2D9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9975"/>
            <a:ext cx="2781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5B279AD2-1542-4F0C-AE2D-87958A07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781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3430C-D196-4229-A3B0-AC3C158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9975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23632A6E-65E7-4111-8A8C-BE1EFCCF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623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409C2-6F6B-4675-A9D1-C94F167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09975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DBA53554-D445-4097-BEEC-5ED8FABB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800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E3984-2455-4E40-BF18-3FC9FFAE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CAREER PASSPORT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16579-7C65-492F-88D5-4A0D910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Assessments, resume,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skills, aspirations,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CB754-E3E6-47BC-8433-9296A0F0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DETERMINISTIC 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5F8C3-6F74-473C-9F28-ABABE75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10050"/>
            <a:ext cx="2400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11-dimension fit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+ pathway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AA370-CC32-41C9-AB8D-FAD597DC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530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D7D7D2"/>
                </a:solidFill>
              </a:defRPr>
            </a:pPr>
            <a:r>
              <a:rPr sz="975" b="0">
                <a:solidFill>
                  <a:srgbClr val="D7D7D2"/>
                </a:solidFill>
              </a:rPr>
              <a:t>NCO-2015 · NSQF · skill taxonomy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6194B-26C9-450F-BD60-C922F3A1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GUIDANCE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BBD2B-4D2F-42CD-887F-C5B8FAB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Dossiers, market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signals &amp; counselor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conversation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C1D63-5E26-4FFF-BA23-FA47B91E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13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66662"/>
                </a:solidFill>
              </a:defRPr>
            </a:pPr>
            <a:r>
              <a:rPr sz="975" b="0">
                <a:solidFill>
                  <a:srgbClr val="666662"/>
                </a:solidFill>
              </a:rPr>
              <a:t>React + TypeScript  /  Supabase + PostgreSQL  /  Cloudflare Worker  /  AI assistance for narrative—not scoring</a:t>
            </a:r>
          </a:p>
        </p:txBody>
      </p:sp>
    </p:spTree>
    <p:extLst>
      <p:ext uri="{BB962C8B-B14F-4D97-AF65-F5344CB8AC3E}">
        <p14:creationId xmlns:p14="http://schemas.microsoft.com/office/powerpoint/2010/main" val="1442280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career">
            <a:extLst xmlns:a="http://schemas.openxmlformats.org/drawingml/2006/main">
              <a:ext uri="{FF2B5EF4-FFF2-40B4-BE49-F238E27FC236}">
                <a16:creationId xmlns:a16="http://schemas.microsoft.com/office/drawing/2014/main" id="{898E6F35-8BB8-4DDB-A435-397EADDA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CAREER</a:t>
            </a:r>
          </a:p>
        </p:txBody>
      </p:sp>
      <p:sp>
        <p:nvSpPr>
          <p:cNvPr id="2" name="brand-case">
            <a:extLst xmlns:a="http://schemas.openxmlformats.org/drawingml/2006/main">
              <a:ext uri="{FF2B5EF4-FFF2-40B4-BE49-F238E27FC236}">
                <a16:creationId xmlns:a16="http://schemas.microsoft.com/office/drawing/2014/main" id="{08FA6377-788F-47E1-B756-D11BAC0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6662"/>
                </a:solidFill>
              </a:defRPr>
            </a:pPr>
            <a:r>
              <a:rPr sz="1050" b="1">
                <a:solidFill>
                  <a:srgbClr val="666662"/>
                </a:solidFill>
              </a:rPr>
              <a:t>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5945-1DB5-437F-AB92-9F1081DA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1EEA2-CBE1-4272-8F14-A6DBA339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6662"/>
                </a:solidFill>
              </a:defRPr>
            </a:pPr>
            <a:r>
              <a:rPr sz="975" b="1">
                <a:solidFill>
                  <a:srgbClr val="66666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91D45-D022-4EAA-8D22-DFC06193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B350E00-890C-4646-B2E0-C5625F4B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FEASIBILITY &amp; VIABILITY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300E0-3C8D-4D10-BE1C-2CDAC25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Built for trust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when choices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42A53-BB2B-449F-A440-920F8D6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0">
                <a:solidFill>
                  <a:srgbClr val="4A4A4A"/>
                </a:solidFill>
              </a:defRPr>
            </a:pPr>
            <a:r>
              <a:rPr sz="1500" b="0">
                <a:solidFill>
                  <a:srgbClr val="4A4A4A"/>
                </a:solidFill>
              </a:rPr>
              <a:t>CareerCase is a software-first system with a deployable stack and a deliberate answer to the risks of AI-led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39ECE-F28E-4A17-9C05-7F6E5AB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4CFCC-5774-4C64-9A0E-2FCC86F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63946"/>
                </a:solidFill>
              </a:defRPr>
            </a:pPr>
            <a:r>
              <a:rPr sz="975" b="1">
                <a:solidFill>
                  <a:srgbClr val="E63946"/>
                </a:solidFill>
              </a:rPr>
              <a:t>BLACK-BOX ADVICE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D2ED4-211D-4EFC-8974-AB3B8D58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29025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A4A4A"/>
                </a:solidFill>
              </a:defRPr>
            </a:pPr>
            <a:r>
              <a:rPr sz="1425" b="0">
                <a:solidFill>
                  <a:srgbClr val="4A4A4A"/>
                </a:solidFill>
              </a:rPr>
              <a:t>Deterministic scoring + “Why this?”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B8AAE-A2D7-49F8-89BB-05C07627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C6258-FBCB-4DAC-B7BE-93116B1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STALE MARKET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BEAA9-A192-450D-956B-3312F0F2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0050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A4A4A"/>
                </a:solidFill>
              </a:defRPr>
            </a:pPr>
            <a:r>
              <a:rPr sz="1425" b="0">
                <a:solidFill>
                  <a:srgbClr val="4A4A4A"/>
                </a:solidFill>
              </a:rPr>
              <a:t>Cached, dated intelligence with a visible source trail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A85D1-D15B-40D6-9E2E-5556FED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1D6B0-1EB1-4AB2-9BF9-9C9D2E6A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UNEQUAL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76984-60A7-448D-959E-9E47340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91075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A4A4A"/>
                </a:solidFill>
              </a:defRPr>
            </a:pPr>
            <a:r>
              <a:rPr sz="1425" b="0">
                <a:solidFill>
                  <a:srgbClr val="4A4A4A"/>
                </a:solidFill>
              </a:rPr>
              <a:t>Mobile-first, simple language, multilingual-ready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8CA33-9488-47ED-9C82-40C97DB7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81754-C5F8-433D-A98C-5A02715D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SENSITIVE CAREER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8A31D-129D-496E-8697-D1C6319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72100"/>
            <a:ext cx="642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4A4A4A"/>
                </a:solidFill>
              </a:defRPr>
            </a:pPr>
            <a:r>
              <a:rPr sz="1425" b="0">
                <a:solidFill>
                  <a:srgbClr val="4A4A4A"/>
                </a:solidFill>
              </a:rPr>
              <a:t>Consent-led profile; minimal data; secure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6C001-34ED-43F3-B244-DE900A4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304925"/>
            <a:ext cx="26479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7D7E3100-74B8-428A-B6CC-1848C274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57300"/>
            <a:ext cx="26479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E39D5-61ED-422F-915D-B47508C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144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A0A0A"/>
                </a:solidFill>
              </a:defRPr>
            </a:pPr>
            <a:r>
              <a:rPr sz="900" b="1">
                <a:solidFill>
                  <a:srgbClr val="0A0A0A"/>
                </a:solidFill>
              </a:rPr>
              <a:t>VIABLE 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B07AC-4FD2-470E-A5D0-536CE1D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Software-first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prototype.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Real product logic.</a:t>
            </a:r>
          </a:p>
        </p:txBody>
      </p:sp>
    </p:spTree>
    <p:extLst>
      <p:ext uri="{BB962C8B-B14F-4D97-AF65-F5344CB8AC3E}">
        <p14:creationId xmlns:p14="http://schemas.microsoft.com/office/powerpoint/2010/main" val="554894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career">
            <a:extLst xmlns:a="http://schemas.openxmlformats.org/drawingml/2006/main">
              <a:ext uri="{FF2B5EF4-FFF2-40B4-BE49-F238E27FC236}">
                <a16:creationId xmlns:a16="http://schemas.microsoft.com/office/drawing/2014/main" id="{EDBF5756-ADED-4FEF-8C52-3FB457C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CAREER</a:t>
            </a:r>
          </a:p>
        </p:txBody>
      </p:sp>
      <p:sp>
        <p:nvSpPr>
          <p:cNvPr id="2" name="brand-case">
            <a:extLst xmlns:a="http://schemas.openxmlformats.org/drawingml/2006/main">
              <a:ext uri="{FF2B5EF4-FFF2-40B4-BE49-F238E27FC236}">
                <a16:creationId xmlns:a16="http://schemas.microsoft.com/office/drawing/2014/main" id="{E39F88F2-0F91-44F0-BF71-9D638808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66662"/>
                </a:solidFill>
              </a:defRPr>
            </a:pPr>
            <a:r>
              <a:rPr sz="1050" b="1">
                <a:solidFill>
                  <a:srgbClr val="666662"/>
                </a:solidFill>
              </a:rPr>
              <a:t>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A9894-80FE-47E2-B906-F86A87A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31001-7E6C-462B-96D0-FC50458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66662"/>
                </a:solidFill>
              </a:defRPr>
            </a:pPr>
            <a:r>
              <a:rPr sz="975" b="1">
                <a:solidFill>
                  <a:srgbClr val="66666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B4EA0-3C14-4E7B-A4B1-65C74B97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4E9201C-67C7-4B1D-B0DE-7E691297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IMPACT &amp; BENEFITS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A4A64-3202-434A-80EE-4F97A1C2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A next move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0A0A0A"/>
                </a:solidFill>
              </a:defRPr>
            </a:pPr>
            <a:r>
              <a:rPr sz="3825" b="1">
                <a:solidFill>
                  <a:srgbClr val="0A0A0A"/>
                </a:solidFill>
              </a:rPr>
              <a:t>with a reason.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EAB58-FFD7-484D-807F-681F553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0">
                <a:solidFill>
                  <a:srgbClr val="4A4A4A"/>
                </a:solidFill>
              </a:defRPr>
            </a:pPr>
            <a:r>
              <a:rPr sz="1500" b="0">
                <a:solidFill>
                  <a:srgbClr val="4A4A4A"/>
                </a:solidFill>
              </a:rPr>
              <a:t>CareerCase moves guidance from one-time advice to a living, evidence-backed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618FF-F4AC-492E-8213-7FDCB110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7187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C457CC6E-CD8C-4494-B531-B3339C09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03A9C-0583-4294-AC80-E7CEBD1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71875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34618DB2-8627-49F5-8844-891FC3E5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87490-88D2-488E-9A05-6661611A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71875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7A8790B2-4BF7-4F9A-9E1B-029FC82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3162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4D3FA-61B8-4DCE-8F6A-BBE8CFCF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FOR LEARNERS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F0717-4BED-4222-A780-E35E17CC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209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Clarity before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time &amp; money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are spent.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90561-9833-40F4-AEF2-CF4A9D6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FOR COUNSELLORS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08B6E-1BD0-420F-B6E0-F42477ED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2228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A shared case file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for better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conversations.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55921-D99C-4DB6-8BDD-302B902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9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E63946"/>
                </a:solidFill>
              </a:defRPr>
            </a:pPr>
            <a:r>
              <a:rPr sz="900" b="1">
                <a:solidFill>
                  <a:srgbClr val="E63946"/>
                </a:solidFill>
              </a:rPr>
              <a:t>FOR THE ECOSYSTEM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184EE-2D6E-455B-A1AD-21A4AD8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A bridge between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people, skills &amp;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025" b="1">
                <a:solidFill>
                  <a:srgbClr val="0A0A0A"/>
                </a:solidFill>
              </a:defRPr>
            </a:pPr>
            <a:r>
              <a:rPr sz="2025" b="1">
                <a:solidFill>
                  <a:srgbClr val="0A0A0A"/>
                </a:solidFill>
              </a:rPr>
              <a:t>progression paths.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9C632-B48C-42A0-9353-4A97EB9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13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6662"/>
                </a:solidFill>
              </a:defRPr>
            </a:pPr>
            <a:r>
              <a:rPr sz="1050" b="0">
                <a:solidFill>
                  <a:srgbClr val="666662"/>
                </a:solidFill>
              </a:rPr>
              <a:t>Scales across school, college, job search, career transitions and professional advancement.</a:t>
            </a:r>
          </a:p>
        </p:txBody>
      </p:sp>
    </p:spTree>
    <p:extLst>
      <p:ext uri="{BB962C8B-B14F-4D97-AF65-F5344CB8AC3E}">
        <p14:creationId xmlns:p14="http://schemas.microsoft.com/office/powerpoint/2010/main" val="1435061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BE44D-40E8-4E57-8B3D-0F607B07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CAREER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0906E-BEC3-45C7-8FB5-598F0868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E8E8B"/>
                </a:solidFill>
              </a:defRPr>
            </a:pPr>
            <a:r>
              <a:rPr sz="1050" b="1">
                <a:solidFill>
                  <a:srgbClr val="8E8E8B"/>
                </a:solidFill>
              </a:rPr>
              <a:t>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05E2-A27A-4822-AB60-34997C1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333F1-BE79-4D40-8892-62DE0B7D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AFAFAA"/>
                </a:solidFill>
              </a:defRPr>
            </a:pPr>
            <a:r>
              <a:rPr sz="975" b="1">
                <a:solidFill>
                  <a:srgbClr val="AFAFA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901DC-0B87-4584-90DF-298D9C88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FADB048-B37E-4555-8F7E-94244C8F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RESEARCH &amp;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BD89B-EEB5-4E1C-9F91-0BB722E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guidance must be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personal. The case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must be credible.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EEBFA-F185-40FC-A10B-9B67866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D7D7D2"/>
                </a:solidFill>
              </a:defRPr>
            </a:pPr>
            <a:r>
              <a:rPr sz="1575" b="0">
                <a:solidFill>
                  <a:srgbClr val="D7D7D2"/>
                </a:solidFill>
              </a:rPr>
              <a:t>CareerCase combines a user-owned profile with structured occupation and qualification references—so recommendations can be checked, explained and acted 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0E8A0-07AD-4831-876D-FD317AC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78E3-F4E3-4E9C-A881-7731F0D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A777D-8627-46D6-8438-47F1788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91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SIH260480 problem 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50816-533B-4364-8F5A-AFD7251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29175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5B5B0"/>
                </a:solidFill>
              </a:defRPr>
            </a:pPr>
            <a:r>
              <a:rPr sz="975" b="0">
                <a:solidFill>
                  <a:srgbClr val="B5B5B0"/>
                </a:solidFill>
              </a:rPr>
              <a:t>AI-Enhanced Career Guidance System for Personalized Career Pathways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F82FB-D658-41E7-983A-46E9DCE3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A4C52-6274-4B9E-AB82-2B035CE5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91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NCO-2015 · National Career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29B38-84A7-4AD9-A8C3-8D085BE0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29175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5B5B0"/>
                </a:solidFill>
              </a:defRPr>
            </a:pPr>
            <a:r>
              <a:rPr sz="975" b="0">
                <a:solidFill>
                  <a:srgbClr val="B5B5B0"/>
                </a:solidFill>
              </a:rPr>
              <a:t>ncs.gov.in/Documents/National Classification of Occupations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11FC6-0F3B-49DF-BBE1-1DD811A8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33891-6169-483C-87AF-39F44A5C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3149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National Qualifications Register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D034D-8CCC-4962-B6CD-1F8123B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553075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5B5B0"/>
                </a:solidFill>
              </a:defRPr>
            </a:pPr>
            <a:r>
              <a:rPr sz="975" b="0">
                <a:solidFill>
                  <a:srgbClr val="B5B5B0"/>
                </a:solidFill>
              </a:rPr>
              <a:t>nqr.gov.in · NSQF-aligned qualifications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6AB57-AF8F-4113-BC69-BB738BDA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8B29F-28DB-4F48-8C9F-0CA12173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149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MSDE / NCVET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AF932-A07E-4773-9A7C-7F82097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553075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5B5B0"/>
                </a:solidFill>
              </a:defRPr>
            </a:pPr>
            <a:r>
              <a:rPr sz="975" b="0">
                <a:solidFill>
                  <a:srgbClr val="B5B5B0"/>
                </a:solidFill>
              </a:rPr>
              <a:t>msde.gov.in · vocational education &amp; skilling ecosystem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667B8-4B5B-4170-8F3A-51DE625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TEAM CAREERCASE  ·  SMART INDIA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49152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2026-08-13T17:47:25.7170000Z</dcterms:created>
  <dcterms:modified xsi:type="dcterms:W3CDTF">2026-08-13T17:47:25.7170000Z</dcterms:modified>
</coreProperties>
</file>